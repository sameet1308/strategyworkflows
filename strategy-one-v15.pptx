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33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26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800" y="50800"/>
            <a:ext cx="8412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ONE (March 2026) — Enterprise AI Feature Evaluation</a:t>
            </a:r>
          </a:p>
        </p:txBody>
      </p:sp>
      <p:sp>
        <p:nvSpPr>
          <p:cNvPr id="200" name="HB0"/>
          <p:cNvSpPr/>
          <p:nvPr/>
        </p:nvSpPr>
        <p:spPr>
          <a:xfrm>
            <a:off x="127000" y="508000"/>
            <a:ext cx="1371600" cy="254000"/>
          </a:xfrm>
          <a:prstGeom prst="rect">
            <a:avLst/>
          </a:prstGeom>
          <a:solidFill>
            <a:srgbClr val="1B3A6B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01" name="HB1"/>
          <p:cNvSpPr/>
          <p:nvPr/>
        </p:nvSpPr>
        <p:spPr>
          <a:xfrm>
            <a:off x="1498600" y="508000"/>
            <a:ext cx="2286000" cy="254000"/>
          </a:xfrm>
          <a:prstGeom prst="rect">
            <a:avLst/>
          </a:prstGeom>
          <a:solidFill>
            <a:srgbClr val="1B3A6B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02" name="HB2"/>
          <p:cNvSpPr/>
          <p:nvPr/>
        </p:nvSpPr>
        <p:spPr>
          <a:xfrm>
            <a:off x="3784600" y="508000"/>
            <a:ext cx="2387600" cy="254000"/>
          </a:xfrm>
          <a:prstGeom prst="rect">
            <a:avLst/>
          </a:prstGeom>
          <a:solidFill>
            <a:srgbClr val="1B3A6B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03" name="HB3"/>
          <p:cNvSpPr/>
          <p:nvPr/>
        </p:nvSpPr>
        <p:spPr>
          <a:xfrm>
            <a:off x="6172200" y="508000"/>
            <a:ext cx="2844800" cy="254000"/>
          </a:xfrm>
          <a:prstGeom prst="rect">
            <a:avLst/>
          </a:prstGeom>
          <a:solidFill>
            <a:srgbClr val="1B3A6B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04" name="HT0"/>
          <p:cNvSpPr txBox="1"/>
          <p:nvPr/>
        </p:nvSpPr>
        <p:spPr>
          <a:xfrm>
            <a:off x="127000" y="508000"/>
            <a:ext cx="137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AI Feature</a:t>
            </a:r>
          </a:p>
        </p:txBody>
      </p:sp>
      <p:sp>
        <p:nvSpPr>
          <p:cNvPr id="205" name="HT1"/>
          <p:cNvSpPr txBox="1"/>
          <p:nvPr/>
        </p:nvSpPr>
        <p:spPr>
          <a:xfrm>
            <a:off x="1498600" y="508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High-Level Capability</a:t>
            </a:r>
          </a:p>
        </p:txBody>
      </p:sp>
      <p:sp>
        <p:nvSpPr>
          <p:cNvPr id="206" name="HT2"/>
          <p:cNvSpPr txBox="1"/>
          <p:nvPr/>
        </p:nvSpPr>
        <p:spPr>
          <a:xfrm>
            <a:off x="3784600" y="508000"/>
            <a:ext cx="238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Business Value &amp; Impact</a:t>
            </a:r>
          </a:p>
        </p:txBody>
      </p:sp>
      <p:sp>
        <p:nvSpPr>
          <p:cNvPr id="207" name="HT3"/>
          <p:cNvSpPr txBox="1"/>
          <p:nvPr/>
        </p:nvSpPr>
        <p:spPr>
          <a:xfrm>
            <a:off x="6172200" y="508000"/>
            <a:ext cx="284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Architectural Reality &amp; Guardrails</a:t>
            </a:r>
          </a:p>
        </p:txBody>
      </p:sp>
      <p:sp>
        <p:nvSpPr>
          <p:cNvPr id="208" name="RB00"/>
          <p:cNvSpPr/>
          <p:nvPr/>
        </p:nvSpPr>
        <p:spPr>
          <a:xfrm>
            <a:off x="127000" y="762000"/>
            <a:ext cx="1371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09" name="RB01"/>
          <p:cNvSpPr/>
          <p:nvPr/>
        </p:nvSpPr>
        <p:spPr>
          <a:xfrm>
            <a:off x="1498600" y="762000"/>
            <a:ext cx="22860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0" name="RB02"/>
          <p:cNvSpPr/>
          <p:nvPr/>
        </p:nvSpPr>
        <p:spPr>
          <a:xfrm>
            <a:off x="3784600" y="762000"/>
            <a:ext cx="2387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1" name="RB03"/>
          <p:cNvSpPr/>
          <p:nvPr/>
        </p:nvSpPr>
        <p:spPr>
          <a:xfrm>
            <a:off x="6172200" y="762000"/>
            <a:ext cx="28448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2" name="F0"/>
          <p:cNvSpPr txBox="1"/>
          <p:nvPr/>
        </p:nvSpPr>
        <p:spPr>
          <a:xfrm>
            <a:off x="152400" y="7620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Mosaic Model &amp;
Sentinel</a:t>
            </a:r>
          </a:p>
          <a:p>
            <a:pPr>
              <a:lnSpc>
                <a:spcPts val="800"/>
              </a:lnSpc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</a:rPr>
              <a:t>(The Semantic Core)</a:t>
            </a:r>
          </a:p>
        </p:txBody>
      </p:sp>
      <p:sp>
        <p:nvSpPr>
          <p:cNvPr id="213" name="C0"/>
          <p:cNvSpPr txBox="1"/>
          <p:nvPr/>
        </p:nvSpPr>
        <p:spPr>
          <a:xfrm>
            <a:off x="1511300" y="7620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Enterprise Semantic Graph with Git/YAML versioning, automated Time Intelligence, and AI-powered governance (Sentinel).</a:t>
            </a:r>
          </a:p>
        </p:txBody>
      </p:sp>
      <p:sp>
        <p:nvSpPr>
          <p:cNvPr id="214" name="V0"/>
          <p:cNvSpPr txBox="1"/>
          <p:nvPr/>
        </p:nvSpPr>
        <p:spPr>
          <a:xfrm>
            <a:off x="3797300" y="7620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</a:rPr>
              <a:t>CRITICAL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Single source of truth for all downstream AI bots, dashboards, and external agents.</a:t>
            </a:r>
          </a:p>
        </p:txBody>
      </p:sp>
      <p:sp>
        <p:nvSpPr>
          <p:cNvPr id="215" name="A0"/>
          <p:cNvSpPr txBox="1"/>
          <p:nvPr/>
        </p:nvSpPr>
        <p:spPr>
          <a:xfrm>
            <a:off x="6184900" y="7620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Must be owned by Enterprise Architects &amp; validated by Business SMEs. Disconnected models cause Intelligence Server memory bloat, redundant data, and AI hallucinations.</a:t>
            </a:r>
          </a:p>
        </p:txBody>
      </p:sp>
      <p:sp>
        <p:nvSpPr>
          <p:cNvPr id="216" name="RB10"/>
          <p:cNvSpPr/>
          <p:nvPr/>
        </p:nvSpPr>
        <p:spPr>
          <a:xfrm>
            <a:off x="127000" y="1485900"/>
            <a:ext cx="1371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7" name="RB11"/>
          <p:cNvSpPr/>
          <p:nvPr/>
        </p:nvSpPr>
        <p:spPr>
          <a:xfrm>
            <a:off x="1498600" y="1485900"/>
            <a:ext cx="22860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8" name="RB12"/>
          <p:cNvSpPr/>
          <p:nvPr/>
        </p:nvSpPr>
        <p:spPr>
          <a:xfrm>
            <a:off x="3784600" y="1485900"/>
            <a:ext cx="2387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19" name="RB13"/>
          <p:cNvSpPr/>
          <p:nvPr/>
        </p:nvSpPr>
        <p:spPr>
          <a:xfrm>
            <a:off x="6172200" y="1485900"/>
            <a:ext cx="28448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20" name="F1"/>
          <p:cNvSpPr txBox="1"/>
          <p:nvPr/>
        </p:nvSpPr>
        <p:spPr>
          <a:xfrm>
            <a:off x="152400" y="14859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AI Agents</a:t>
            </a:r>
          </a:p>
          <a:p>
            <a:pPr>
              <a:lnSpc>
                <a:spcPts val="800"/>
              </a:lnSpc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</a:rPr>
              <a:t>(Auto Expert / Answers)</a:t>
            </a:r>
          </a:p>
        </p:txBody>
      </p:sp>
      <p:sp>
        <p:nvSpPr>
          <p:cNvPr id="221" name="C1"/>
          <p:cNvSpPr txBox="1"/>
          <p:nvPr/>
        </p:nvSpPr>
        <p:spPr>
          <a:xfrm>
            <a:off x="1511300" y="14859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Natural-language bots for complex business questions, forecasting, and data exploration.</a:t>
            </a:r>
          </a:p>
        </p:txBody>
      </p:sp>
      <p:sp>
        <p:nvSpPr>
          <p:cNvPr id="222" name="V1"/>
          <p:cNvSpPr txBox="1"/>
          <p:nvPr/>
        </p:nvSpPr>
        <p:spPr>
          <a:xfrm>
            <a:off x="3797300" y="14859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</a:rPr>
              <a:t>HIGH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Drastically reduces time-to-insight for executives and business users.</a:t>
            </a:r>
          </a:p>
        </p:txBody>
      </p:sp>
      <p:sp>
        <p:nvSpPr>
          <p:cNvPr id="223" name="A1"/>
          <p:cNvSpPr txBox="1"/>
          <p:nvPr/>
        </p:nvSpPr>
        <p:spPr>
          <a:xfrm>
            <a:off x="6184900" y="14859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"Garbage In, Garbage Out." Success relies on how well Mosaic is architected with strict metric definitions and synonym mappings.</a:t>
            </a:r>
          </a:p>
        </p:txBody>
      </p:sp>
      <p:sp>
        <p:nvSpPr>
          <p:cNvPr id="224" name="RB20"/>
          <p:cNvSpPr/>
          <p:nvPr/>
        </p:nvSpPr>
        <p:spPr>
          <a:xfrm>
            <a:off x="127000" y="2209800"/>
            <a:ext cx="1371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25" name="RB21"/>
          <p:cNvSpPr/>
          <p:nvPr/>
        </p:nvSpPr>
        <p:spPr>
          <a:xfrm>
            <a:off x="1498600" y="2209800"/>
            <a:ext cx="22860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26" name="RB22"/>
          <p:cNvSpPr/>
          <p:nvPr/>
        </p:nvSpPr>
        <p:spPr>
          <a:xfrm>
            <a:off x="3784600" y="2209800"/>
            <a:ext cx="2387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27" name="RB23"/>
          <p:cNvSpPr/>
          <p:nvPr/>
        </p:nvSpPr>
        <p:spPr>
          <a:xfrm>
            <a:off x="6172200" y="2209800"/>
            <a:ext cx="28448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28" name="F2"/>
          <p:cNvSpPr txBox="1"/>
          <p:nvPr/>
        </p:nvSpPr>
        <p:spPr>
          <a:xfrm>
            <a:off x="152400" y="22098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MCP Integration</a:t>
            </a:r>
          </a:p>
        </p:txBody>
      </p:sp>
      <p:sp>
        <p:nvSpPr>
          <p:cNvPr id="229" name="C2"/>
          <p:cNvSpPr txBox="1"/>
          <p:nvPr/>
        </p:nvSpPr>
        <p:spPr>
          <a:xfrm>
            <a:off x="1511300" y="22098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External AI orchestrators (Gemini, Claude, Copilot) query Mosaic directly, bypassing internal bots.</a:t>
            </a:r>
          </a:p>
        </p:txBody>
      </p:sp>
      <p:sp>
        <p:nvSpPr>
          <p:cNvPr id="230" name="V2"/>
          <p:cNvSpPr txBox="1"/>
          <p:nvPr/>
        </p:nvSpPr>
        <p:spPr>
          <a:xfrm>
            <a:off x="3797300" y="22098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</a:rPr>
              <a:t>HIGH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Seamless integration of enterprise data into broader corporate AI workflows.</a:t>
            </a:r>
          </a:p>
        </p:txBody>
      </p:sp>
      <p:sp>
        <p:nvSpPr>
          <p:cNvPr id="231" name="A2"/>
          <p:cNvSpPr txBox="1"/>
          <p:nvPr/>
        </p:nvSpPr>
        <p:spPr>
          <a:xfrm>
            <a:off x="6184900" y="22098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Requires airtight data modeling. External LLMs expose poorly governed models instantly. Security rules must be locked at Mosaic layer.</a:t>
            </a:r>
          </a:p>
        </p:txBody>
      </p:sp>
      <p:sp>
        <p:nvSpPr>
          <p:cNvPr id="232" name="RB30"/>
          <p:cNvSpPr/>
          <p:nvPr/>
        </p:nvSpPr>
        <p:spPr>
          <a:xfrm>
            <a:off x="127000" y="2933700"/>
            <a:ext cx="1371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33" name="RB31"/>
          <p:cNvSpPr/>
          <p:nvPr/>
        </p:nvSpPr>
        <p:spPr>
          <a:xfrm>
            <a:off x="1498600" y="2933700"/>
            <a:ext cx="22860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34" name="RB32"/>
          <p:cNvSpPr/>
          <p:nvPr/>
        </p:nvSpPr>
        <p:spPr>
          <a:xfrm>
            <a:off x="3784600" y="2933700"/>
            <a:ext cx="2387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35" name="RB33"/>
          <p:cNvSpPr/>
          <p:nvPr/>
        </p:nvSpPr>
        <p:spPr>
          <a:xfrm>
            <a:off x="6172200" y="2933700"/>
            <a:ext cx="28448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36" name="F3"/>
          <p:cNvSpPr txBox="1"/>
          <p:nvPr/>
        </p:nvSpPr>
        <p:spPr>
          <a:xfrm>
            <a:off x="152400" y="29337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Auto Dashboard</a:t>
            </a:r>
          </a:p>
        </p:txBody>
      </p:sp>
      <p:sp>
        <p:nvSpPr>
          <p:cNvPr id="237" name="C3"/>
          <p:cNvSpPr txBox="1"/>
          <p:nvPr/>
        </p:nvSpPr>
        <p:spPr>
          <a:xfrm>
            <a:off x="1511300" y="29337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Generates visualizations, derived metrics, and view filters via natural language prompts.</a:t>
            </a:r>
          </a:p>
        </p:txBody>
      </p:sp>
      <p:sp>
        <p:nvSpPr>
          <p:cNvPr id="238" name="V3"/>
          <p:cNvSpPr txBox="1"/>
          <p:nvPr/>
        </p:nvSpPr>
        <p:spPr>
          <a:xfrm>
            <a:off x="3797300" y="29337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</a:rPr>
              <a:t>MEDIUM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Accelerates rapid prototyping for junior analysts.</a:t>
            </a:r>
          </a:p>
        </p:txBody>
      </p:sp>
      <p:sp>
        <p:nvSpPr>
          <p:cNvPr id="239" name="A3"/>
          <p:cNvSpPr txBox="1"/>
          <p:nvPr/>
        </p:nvSpPr>
        <p:spPr>
          <a:xfrm>
            <a:off x="6184900" y="29337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Not a replacement for enterprise-grade dossier authoring. Use for ideation, not final corporate deployment.</a:t>
            </a:r>
          </a:p>
        </p:txBody>
      </p:sp>
      <p:sp>
        <p:nvSpPr>
          <p:cNvPr id="240" name="RB40"/>
          <p:cNvSpPr/>
          <p:nvPr/>
        </p:nvSpPr>
        <p:spPr>
          <a:xfrm>
            <a:off x="127000" y="3657600"/>
            <a:ext cx="1371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41" name="RB41"/>
          <p:cNvSpPr/>
          <p:nvPr/>
        </p:nvSpPr>
        <p:spPr>
          <a:xfrm>
            <a:off x="1498600" y="3657600"/>
            <a:ext cx="22860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42" name="RB42"/>
          <p:cNvSpPr/>
          <p:nvPr/>
        </p:nvSpPr>
        <p:spPr>
          <a:xfrm>
            <a:off x="3784600" y="3657600"/>
            <a:ext cx="23876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43" name="RB43"/>
          <p:cNvSpPr/>
          <p:nvPr/>
        </p:nvSpPr>
        <p:spPr>
          <a:xfrm>
            <a:off x="6172200" y="3657600"/>
            <a:ext cx="2844800" cy="7239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44" name="F4"/>
          <p:cNvSpPr txBox="1"/>
          <p:nvPr/>
        </p:nvSpPr>
        <p:spPr>
          <a:xfrm>
            <a:off x="152400" y="36576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Auto Narratives</a:t>
            </a:r>
          </a:p>
        </p:txBody>
      </p:sp>
      <p:sp>
        <p:nvSpPr>
          <p:cNvPr id="245" name="C4"/>
          <p:cNvSpPr txBox="1"/>
          <p:nvPr/>
        </p:nvSpPr>
        <p:spPr>
          <a:xfrm>
            <a:off x="1511300" y="36576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Dynamic, one-click NL summaries of dashboard pages or specific visualizations.</a:t>
            </a:r>
          </a:p>
        </p:txBody>
      </p:sp>
      <p:sp>
        <p:nvSpPr>
          <p:cNvPr id="246" name="V4"/>
          <p:cNvSpPr txBox="1"/>
          <p:nvPr/>
        </p:nvSpPr>
        <p:spPr>
          <a:xfrm>
            <a:off x="3797300" y="36576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</a:rPr>
              <a:t>MEDIUM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Excellent for non-technical stakeholders who prefer textual summaries over charts.</a:t>
            </a:r>
          </a:p>
        </p:txBody>
      </p:sp>
      <p:sp>
        <p:nvSpPr>
          <p:cNvPr id="247" name="A4"/>
          <p:cNvSpPr txBox="1"/>
          <p:nvPr/>
        </p:nvSpPr>
        <p:spPr>
          <a:xfrm>
            <a:off x="6184900" y="36576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Dependent on clean data feeds. Underlying dataset must have clear, unambiguous naming conventions.</a:t>
            </a:r>
          </a:p>
        </p:txBody>
      </p:sp>
      <p:sp>
        <p:nvSpPr>
          <p:cNvPr id="248" name="RB50"/>
          <p:cNvSpPr/>
          <p:nvPr/>
        </p:nvSpPr>
        <p:spPr>
          <a:xfrm>
            <a:off x="127000" y="4381500"/>
            <a:ext cx="1371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49" name="RB51"/>
          <p:cNvSpPr/>
          <p:nvPr/>
        </p:nvSpPr>
        <p:spPr>
          <a:xfrm>
            <a:off x="1498600" y="4381500"/>
            <a:ext cx="22860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50" name="RB52"/>
          <p:cNvSpPr/>
          <p:nvPr/>
        </p:nvSpPr>
        <p:spPr>
          <a:xfrm>
            <a:off x="3784600" y="4381500"/>
            <a:ext cx="23876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51" name="RB53"/>
          <p:cNvSpPr/>
          <p:nvPr/>
        </p:nvSpPr>
        <p:spPr>
          <a:xfrm>
            <a:off x="6172200" y="4381500"/>
            <a:ext cx="2844800" cy="723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anchor="ctr"/>
          <a:lstStyle/>
          <a:p>
            <a:endParaRPr lang="en-US" sz="100"/>
          </a:p>
        </p:txBody>
      </p:sp>
      <p:sp>
        <p:nvSpPr>
          <p:cNvPr id="252" name="F5"/>
          <p:cNvSpPr txBox="1"/>
          <p:nvPr/>
        </p:nvSpPr>
        <p:spPr>
          <a:xfrm>
            <a:off x="152400" y="4381500"/>
            <a:ext cx="13208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900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</a:rPr>
              <a:t>AI-Augmented
HyperIntelligence</a:t>
            </a:r>
          </a:p>
        </p:txBody>
      </p:sp>
      <p:sp>
        <p:nvSpPr>
          <p:cNvPr id="253" name="C5"/>
          <p:cNvSpPr txBox="1"/>
          <p:nvPr/>
        </p:nvSpPr>
        <p:spPr>
          <a:xfrm>
            <a:off x="1511300" y="4381500"/>
            <a:ext cx="22606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Real-time, zero-click AI insights injected into browsers, email, and productivity apps via contextual cards.</a:t>
            </a:r>
          </a:p>
        </p:txBody>
      </p:sp>
      <p:sp>
        <p:nvSpPr>
          <p:cNvPr id="254" name="V5"/>
          <p:cNvSpPr txBox="1"/>
          <p:nvPr/>
        </p:nvSpPr>
        <p:spPr>
          <a:xfrm>
            <a:off x="3797300" y="4381500"/>
            <a:ext cx="23622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</a:rPr>
              <a:t>HIGH</a:t>
            </a:r>
          </a:p>
          <a:p>
            <a:pPr>
              <a:lnSpc>
                <a:spcPts val="85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Maximum user adoption — insights delivered to operational workflows without platform login.</a:t>
            </a:r>
          </a:p>
        </p:txBody>
      </p:sp>
      <p:sp>
        <p:nvSpPr>
          <p:cNvPr id="255" name="A5"/>
          <p:cNvSpPr txBox="1"/>
          <p:nvPr/>
        </p:nvSpPr>
        <p:spPr>
          <a:xfrm>
            <a:off x="6184900" y="4381500"/>
            <a:ext cx="2819400" cy="723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>
              <a:lnSpc>
                <a:spcPts val="85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</a:rPr>
              <a:t>Pending Mosaic Maturation. Deployment deferred until semantic layer is fully validated by SMEs for accurate contextual triggers.</a:t>
            </a:r>
          </a:p>
        </p:txBody>
      </p:sp>
      <p:sp>
        <p:nvSpPr>
          <p:cNvPr id="256" name="VL1"/>
          <p:cNvSpPr/>
          <p:nvPr/>
        </p:nvSpPr>
        <p:spPr>
          <a:xfrm>
            <a:off x="1498600" y="508000"/>
            <a:ext cx="9525" cy="4597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7" name="VL2"/>
          <p:cNvSpPr/>
          <p:nvPr/>
        </p:nvSpPr>
        <p:spPr>
          <a:xfrm>
            <a:off x="3784600" y="508000"/>
            <a:ext cx="9525" cy="4597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8" name="VL3"/>
          <p:cNvSpPr/>
          <p:nvPr/>
        </p:nvSpPr>
        <p:spPr>
          <a:xfrm>
            <a:off x="6172200" y="508000"/>
            <a:ext cx="9525" cy="4597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9" name="HL1"/>
          <p:cNvSpPr/>
          <p:nvPr/>
        </p:nvSpPr>
        <p:spPr>
          <a:xfrm>
            <a:off x="127000" y="1485900"/>
            <a:ext cx="8890000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HL2"/>
          <p:cNvSpPr/>
          <p:nvPr/>
        </p:nvSpPr>
        <p:spPr>
          <a:xfrm>
            <a:off x="127000" y="2209800"/>
            <a:ext cx="8890000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" name="HL3"/>
          <p:cNvSpPr/>
          <p:nvPr/>
        </p:nvSpPr>
        <p:spPr>
          <a:xfrm>
            <a:off x="127000" y="2933700"/>
            <a:ext cx="8890000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" name="HL4"/>
          <p:cNvSpPr/>
          <p:nvPr/>
        </p:nvSpPr>
        <p:spPr>
          <a:xfrm>
            <a:off x="127000" y="3657600"/>
            <a:ext cx="8890000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3" name="HL5"/>
          <p:cNvSpPr/>
          <p:nvPr/>
        </p:nvSpPr>
        <p:spPr>
          <a:xfrm>
            <a:off x="127000" y="4381500"/>
            <a:ext cx="8890000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4" name="BtmLine"/>
          <p:cNvSpPr/>
          <p:nvPr/>
        </p:nvSpPr>
        <p:spPr>
          <a:xfrm>
            <a:off x="127000" y="5105400"/>
            <a:ext cx="8890000" cy="127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6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6B07C2-A032-44B1-AB73-8C91B590E78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1d6e385-9d34-4fb1-8da7-8fc748bc33a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342</Words>
  <Application>Microsoft Office PowerPoint</Application>
  <PresentationFormat>On-screen Show 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Sameet Dandawate</cp:lastModifiedBy>
  <cp:revision>2</cp:revision>
  <dcterms:created xsi:type="dcterms:W3CDTF">2026-04-10T02:17:34Z</dcterms:created>
  <dcterms:modified xsi:type="dcterms:W3CDTF">2026-04-10T14:45:58Z</dcterms:modified>
</cp:coreProperties>
</file>