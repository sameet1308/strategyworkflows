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One-line pitch: this is a conversational lookup layer over our MStrategy metadata. You ask in plain English, it returns the exact metadata plus a short explanation. Stress: it reads metadata, it does not run anything against MSTR or the warehouse.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pain for an engineering audience: every one of these is answerable today, but only by a person who knows where to click or which REST endpoint to hit. It does not scale and it is not self-serve.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one concrete example end to end. Point out the two-part output: a precise table they can trust and verify, plus a one-line explanation for fast understanding. The formula and any cube SQL come back as text content, not as something we ran.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numbers in order. P is the scheduled harvest. 1-2 get the question to the Lambda. 3 and 5 are the two Bedrock calls — the bookend: Claude forms the lookup, then explains the rows. 4 is the only data-heavy step and it stays inside the query engine. 6 returns the answer. Stress: every arrow is accounted for, and Claude never touches the bulk metadata.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these is a defensible decision with a tradeoff. If challenged, lean on 1 (safety: nothing executes) and 3 (precision + security for permissions). Those two are the strongest.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engineers will push on. Knowledge Base is the most common suggestion — be ready: RAG is approximate retrieval, and an ACL answer that is probably complete is unacceptable. SQL returns every matching row deterministically.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Drive the contrast: no always-on vector cluster, no standing query engine. Cost tracks usage. The Bedrock calls are small because Claude only sees the question and the trimmed 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an engineering review this is the slide that closes the risk conversation. The single strongest line: there is no execution path to the warehouse, so pointing this at production metadata is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design story: this is not a stripped-down compromise, it is right-sized. Name the trigger for each addition so the room sees you have already thought about growth.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mantra. It captures the whole philosophy of the design and is the line you want them to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1051560"/>
            <a:ext cx="100584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051560"/>
            <a:ext cx="0" cy="91440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66560" y="960120"/>
            <a:ext cx="201168" cy="201168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0" y="960120"/>
            <a:ext cx="201168" cy="201168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0" y="1874520"/>
            <a:ext cx="201168" cy="201168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REVIEW · ENGINEERING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92024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MicroStrategy Metadata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Assistant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36118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Natural-language access to MicroStrategy application metadata — ask in plain English, get exact metadata with a plain explanation.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4434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 ·  Lambda  ·  Amazon Bedrock (Claude)  ·  React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metadata is locked inside MSTR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questions about our MSTR applications mean manual digging across projects — through the UI or one-off REST calls. There is no consolidated, conversational way to ask.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05740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38100" dir="5400000">
              <a:srgbClr val="0F2942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2313432"/>
            <a:ext cx="146304" cy="14630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22199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&amp; access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258775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owns this dashboard? Who has access to this folder?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205740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38100" dir="5400000">
              <a:srgbClr val="0F294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983480" y="2313432"/>
            <a:ext cx="146304" cy="14630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5257800" y="222199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257800" y="258775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formula behind this metric or object?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47472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38100" dir="5400000">
              <a:srgbClr val="0F294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3730752"/>
            <a:ext cx="146304" cy="14630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6393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Cube internals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05840" y="400507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SQL does this cube generate?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54880" y="347472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38100" dir="5400000">
              <a:srgbClr val="0F294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983480" y="3730752"/>
            <a:ext cx="146304" cy="14630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5257800" y="36393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257800" y="400507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relies on this attribute or datasource?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in plain English — get exact data + reasoning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657600" cy="1188720"/>
          </a:xfrm>
          <a:prstGeom prst="roundRect">
            <a:avLst>
              <a:gd name="adj" fmla="val 6154"/>
            </a:avLst>
          </a:prstGeom>
          <a:solidFill>
            <a:srgbClr val="0F2942"/>
          </a:solidFill>
          <a:ln/>
          <a:effectLst>
            <a:outerShdw sx="100000" sy="100000" kx="0" ky="0" algn="bl" rotWithShape="0" blurRad="88900" dist="38100" dir="5400000">
              <a:srgbClr val="0F2942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54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ASKS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“Who has access to the Sales Performance dashboard, and what is the Revenue metric formula?”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480560" y="13716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RETURNS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691640"/>
          <a:ext cx="4206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630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/ Owner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Owner: J. Rivera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control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Analytics group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more principals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480560" y="3063240"/>
            <a:ext cx="4206240" cy="914400"/>
          </a:xfrm>
          <a:prstGeom prst="roundRect">
            <a:avLst>
              <a:gd name="adj" fmla="val 6000"/>
            </a:avLst>
          </a:prstGeom>
          <a:solidFill>
            <a:srgbClr val="E9F8F6"/>
          </a:solidFill>
          <a:ln/>
        </p:spPr>
      </p:sp>
      <p:sp>
        <p:nvSpPr>
          <p:cNvPr id="10" name="Text 7"/>
          <p:cNvSpPr/>
          <p:nvPr/>
        </p:nvSpPr>
        <p:spPr>
          <a:xfrm>
            <a:off x="4663440" y="32004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 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by J. Rivera; 8 principals total (6 read-only, 2 full control). Revenue = Sum(Sales Amount) at Product level.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0292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cube SQL and metric formulas are shown as metadata — never executed.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services, numbered end to 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975104" y="1088136"/>
            <a:ext cx="621792" cy="621792"/>
          </a:xfrm>
          <a:prstGeom prst="roundRect">
            <a:avLst>
              <a:gd name="adj" fmla="val 8824"/>
            </a:avLst>
          </a:prstGeom>
          <a:solidFill>
            <a:srgbClr val="F1F5F9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6544" y="1179576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7190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MSTR harvest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scripts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5576" y="1115568"/>
            <a:ext cx="566928" cy="56692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880360" y="17190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S3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metadata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12064" y="2404872"/>
            <a:ext cx="621792" cy="621792"/>
          </a:xfrm>
          <a:prstGeom prst="roundRect">
            <a:avLst>
              <a:gd name="adj" fmla="val 8824"/>
            </a:avLst>
          </a:prstGeom>
          <a:solidFill>
            <a:srgbClr val="F1F5F9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2496312"/>
            <a:ext cx="438912" cy="43891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-45720" y="30358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1975104" y="2404872"/>
            <a:ext cx="621792" cy="621792"/>
          </a:xfrm>
          <a:prstGeom prst="roundRect">
            <a:avLst>
              <a:gd name="adj" fmla="val 8824"/>
            </a:avLst>
          </a:prstGeom>
          <a:solidFill>
            <a:srgbClr val="F1F5F9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6544" y="2496312"/>
            <a:ext cx="438912" cy="43891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417320" y="30358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UI</a:t>
            </a:r>
            <a:endParaRPr lang="en-US" sz="10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5576" y="2432304"/>
            <a:ext cx="566928" cy="56692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2880360" y="30358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coordinator</a:t>
            </a:r>
            <a:endParaRPr lang="en-US" sz="100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3016" y="2432304"/>
            <a:ext cx="566928" cy="566928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5257800" y="30358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000" dirty="0"/>
          </a:p>
        </p:txBody>
      </p:sp>
      <p:sp>
        <p:nvSpPr>
          <p:cNvPr id="19" name="Shape 11"/>
          <p:cNvSpPr/>
          <p:nvPr/>
        </p:nvSpPr>
        <p:spPr>
          <a:xfrm>
            <a:off x="2569464" y="1399032"/>
            <a:ext cx="896112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0" name="Shape 12"/>
          <p:cNvSpPr/>
          <p:nvPr/>
        </p:nvSpPr>
        <p:spPr>
          <a:xfrm>
            <a:off x="2898648" y="1115568"/>
            <a:ext cx="237744" cy="237744"/>
          </a:xfrm>
          <a:prstGeom prst="ellipse">
            <a:avLst/>
          </a:prstGeom>
          <a:solidFill>
            <a:srgbClr val="64748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3"/>
          <p:cNvSpPr/>
          <p:nvPr/>
        </p:nvSpPr>
        <p:spPr>
          <a:xfrm>
            <a:off x="2898648" y="11155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050" dirty="0"/>
          </a:p>
        </p:txBody>
      </p:sp>
      <p:sp>
        <p:nvSpPr>
          <p:cNvPr id="22" name="Shape 14"/>
          <p:cNvSpPr/>
          <p:nvPr/>
        </p:nvSpPr>
        <p:spPr>
          <a:xfrm>
            <a:off x="1106424" y="2715768"/>
            <a:ext cx="896112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  <a:headEnd type="none"/>
            <a:tailEnd type="triangle"/>
          </a:ln>
        </p:spPr>
      </p:sp>
      <p:sp>
        <p:nvSpPr>
          <p:cNvPr id="23" name="Shape 15"/>
          <p:cNvSpPr/>
          <p:nvPr/>
        </p:nvSpPr>
        <p:spPr>
          <a:xfrm>
            <a:off x="1435608" y="2414016"/>
            <a:ext cx="237744" cy="237744"/>
          </a:xfrm>
          <a:prstGeom prst="ellipse">
            <a:avLst/>
          </a:prstGeom>
          <a:solidFill>
            <a:srgbClr val="0D948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16"/>
          <p:cNvSpPr/>
          <p:nvPr/>
        </p:nvSpPr>
        <p:spPr>
          <a:xfrm>
            <a:off x="1435608" y="24140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5" name="Shape 17"/>
          <p:cNvSpPr/>
          <p:nvPr/>
        </p:nvSpPr>
        <p:spPr>
          <a:xfrm>
            <a:off x="2569464" y="2642616"/>
            <a:ext cx="896112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  <a:headEnd type="none"/>
            <a:tailEnd type="triangle"/>
          </a:ln>
        </p:spPr>
      </p:sp>
      <p:sp>
        <p:nvSpPr>
          <p:cNvPr id="26" name="Shape 18"/>
          <p:cNvSpPr/>
          <p:nvPr/>
        </p:nvSpPr>
        <p:spPr>
          <a:xfrm>
            <a:off x="2898648" y="2350008"/>
            <a:ext cx="237744" cy="237744"/>
          </a:xfrm>
          <a:prstGeom prst="ellipse">
            <a:avLst/>
          </a:prstGeom>
          <a:solidFill>
            <a:srgbClr val="0D948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19"/>
          <p:cNvSpPr/>
          <p:nvPr/>
        </p:nvSpPr>
        <p:spPr>
          <a:xfrm>
            <a:off x="2898648" y="23500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8" name="Shape 20"/>
          <p:cNvSpPr/>
          <p:nvPr/>
        </p:nvSpPr>
        <p:spPr>
          <a:xfrm>
            <a:off x="3465576" y="2807208"/>
            <a:ext cx="-896112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9" name="Shape 21"/>
          <p:cNvSpPr/>
          <p:nvPr/>
        </p:nvSpPr>
        <p:spPr>
          <a:xfrm>
            <a:off x="2898648" y="2843784"/>
            <a:ext cx="237744" cy="237744"/>
          </a:xfrm>
          <a:prstGeom prst="ellipse">
            <a:avLst/>
          </a:prstGeom>
          <a:solidFill>
            <a:srgbClr val="64748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2"/>
          <p:cNvSpPr/>
          <p:nvPr/>
        </p:nvSpPr>
        <p:spPr>
          <a:xfrm>
            <a:off x="2898648" y="2843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31" name="Shape 23"/>
          <p:cNvSpPr/>
          <p:nvPr/>
        </p:nvSpPr>
        <p:spPr>
          <a:xfrm>
            <a:off x="4032504" y="2642616"/>
            <a:ext cx="1810512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  <a:headEnd type="none"/>
            <a:tailEnd type="triangle"/>
          </a:ln>
        </p:spPr>
      </p:sp>
      <p:sp>
        <p:nvSpPr>
          <p:cNvPr id="32" name="Shape 24"/>
          <p:cNvSpPr/>
          <p:nvPr/>
        </p:nvSpPr>
        <p:spPr>
          <a:xfrm>
            <a:off x="4818888" y="2350008"/>
            <a:ext cx="237744" cy="237744"/>
          </a:xfrm>
          <a:prstGeom prst="ellipse">
            <a:avLst/>
          </a:prstGeom>
          <a:solidFill>
            <a:srgbClr val="0D948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25"/>
          <p:cNvSpPr/>
          <p:nvPr/>
        </p:nvSpPr>
        <p:spPr>
          <a:xfrm>
            <a:off x="4818888" y="23500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34" name="Shape 26"/>
          <p:cNvSpPr/>
          <p:nvPr/>
        </p:nvSpPr>
        <p:spPr>
          <a:xfrm>
            <a:off x="4032504" y="2807208"/>
            <a:ext cx="1810512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  <a:headEnd type="none"/>
            <a:tailEnd type="triangle"/>
          </a:ln>
        </p:spPr>
      </p:sp>
      <p:sp>
        <p:nvSpPr>
          <p:cNvPr id="35" name="Shape 27"/>
          <p:cNvSpPr/>
          <p:nvPr/>
        </p:nvSpPr>
        <p:spPr>
          <a:xfrm>
            <a:off x="4818888" y="2843784"/>
            <a:ext cx="237744" cy="237744"/>
          </a:xfrm>
          <a:prstGeom prst="ellipse">
            <a:avLst/>
          </a:prstGeom>
          <a:solidFill>
            <a:srgbClr val="0D948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4818888" y="2843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3749040" y="2432304"/>
            <a:ext cx="0" cy="-749808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  <a:headEnd type="triangle"/>
            <a:tailEnd type="triangle"/>
          </a:ln>
        </p:spPr>
      </p:sp>
      <p:sp>
        <p:nvSpPr>
          <p:cNvPr id="38" name="Shape 30"/>
          <p:cNvSpPr/>
          <p:nvPr/>
        </p:nvSpPr>
        <p:spPr>
          <a:xfrm>
            <a:off x="3831336" y="2167128"/>
            <a:ext cx="237744" cy="237744"/>
          </a:xfrm>
          <a:prstGeom prst="ellipse">
            <a:avLst/>
          </a:prstGeom>
          <a:solidFill>
            <a:srgbClr val="0D948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3831336" y="2167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40" name="Text 32"/>
          <p:cNvSpPr/>
          <p:nvPr/>
        </p:nvSpPr>
        <p:spPr>
          <a:xfrm>
            <a:off x="502920" y="33101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1100" dirty="0"/>
          </a:p>
        </p:txBody>
      </p:sp>
      <p:sp>
        <p:nvSpPr>
          <p:cNvPr id="41" name="Text 33"/>
          <p:cNvSpPr/>
          <p:nvPr/>
        </p:nvSpPr>
        <p:spPr>
          <a:xfrm>
            <a:off x="502920" y="361188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harvest writes structured metadata to S3</a:t>
            </a:r>
            <a:endParaRPr lang="en-US" sz="1050" dirty="0"/>
          </a:p>
        </p:txBody>
      </p:sp>
      <p:sp>
        <p:nvSpPr>
          <p:cNvPr id="42" name="Text 34"/>
          <p:cNvSpPr/>
          <p:nvPr/>
        </p:nvSpPr>
        <p:spPr>
          <a:xfrm>
            <a:off x="502920" y="3895344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asks in plain English (React UI)</a:t>
            </a:r>
            <a:endParaRPr lang="en-US" sz="1050" dirty="0"/>
          </a:p>
        </p:txBody>
      </p:sp>
      <p:sp>
        <p:nvSpPr>
          <p:cNvPr id="43" name="Text 35"/>
          <p:cNvSpPr/>
          <p:nvPr/>
        </p:nvSpPr>
        <p:spPr>
          <a:xfrm>
            <a:off x="502920" y="417880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sends the question to the Lambda</a:t>
            </a:r>
            <a:endParaRPr lang="en-US" sz="1050" dirty="0"/>
          </a:p>
        </p:txBody>
      </p:sp>
      <p:sp>
        <p:nvSpPr>
          <p:cNvPr id="44" name="Text 36"/>
          <p:cNvSpPr/>
          <p:nvPr/>
        </p:nvSpPr>
        <p:spPr>
          <a:xfrm>
            <a:off x="502920" y="4462272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→ Bedrock: Claude forms the lookup</a:t>
            </a:r>
            <a:endParaRPr lang="en-US" sz="1050" dirty="0"/>
          </a:p>
        </p:txBody>
      </p:sp>
      <p:sp>
        <p:nvSpPr>
          <p:cNvPr id="45" name="Text 37"/>
          <p:cNvSpPr/>
          <p:nvPr/>
        </p:nvSpPr>
        <p:spPr>
          <a:xfrm>
            <a:off x="4709160" y="361188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runs the lookup on S3 → exact rows</a:t>
            </a:r>
            <a:endParaRPr lang="en-US" sz="1050" dirty="0"/>
          </a:p>
        </p:txBody>
      </p:sp>
      <p:sp>
        <p:nvSpPr>
          <p:cNvPr id="46" name="Text 38"/>
          <p:cNvSpPr/>
          <p:nvPr/>
        </p:nvSpPr>
        <p:spPr>
          <a:xfrm>
            <a:off x="4709160" y="3895344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→ Bedrock: Claude explains the rows</a:t>
            </a:r>
            <a:endParaRPr lang="en-US" sz="1050" dirty="0"/>
          </a:p>
        </p:txBody>
      </p:sp>
      <p:sp>
        <p:nvSpPr>
          <p:cNvPr id="47" name="Text 39"/>
          <p:cNvSpPr/>
          <p:nvPr/>
        </p:nvSpPr>
        <p:spPr>
          <a:xfrm>
            <a:off x="4709160" y="417880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returns table + explanation to the UI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DECISIONS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choices that define the 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818388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F294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508760"/>
            <a:ext cx="237744" cy="23774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5087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7280" y="1325880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Lookup, not execution   </a:t>
            </a:r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Cube SQL and formulas are displayed as metadata, never run. Nothing touches MSTR runtime or the warehouse.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002536"/>
            <a:ext cx="8183880" cy="603504"/>
          </a:xfrm>
          <a:prstGeom prst="roundRect">
            <a:avLst>
              <a:gd name="adj" fmla="val 7576"/>
            </a:avLst>
          </a:prstGeom>
          <a:solidFill>
            <a:srgbClr val="F1F5F9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2185416"/>
            <a:ext cx="237744" cy="23774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1854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97280" y="2002536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bookends the flow   </a:t>
            </a:r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forms the query and explains the result — never reads the bulk data. Cost stays flat as metadata grows.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2679192"/>
            <a:ext cx="818388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F2942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85800" y="2862072"/>
            <a:ext cx="237744" cy="23774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862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97280" y="2679192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Parameterized lookups   </a:t>
            </a:r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question set means no open-ended SQL generation — no injection surface, and exact answers for permissions.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3355848"/>
            <a:ext cx="8183880" cy="603504"/>
          </a:xfrm>
          <a:prstGeom prst="roundRect">
            <a:avLst>
              <a:gd name="adj" fmla="val 7576"/>
            </a:avLst>
          </a:prstGeom>
          <a:solidFill>
            <a:srgbClr val="F1F5F9"/>
          </a:solidFill>
          <a:ln/>
        </p:spPr>
      </p:sp>
      <p:sp>
        <p:nvSpPr>
          <p:cNvPr id="17" name="Shape 15"/>
          <p:cNvSpPr/>
          <p:nvPr/>
        </p:nvSpPr>
        <p:spPr>
          <a:xfrm>
            <a:off x="685800" y="3538728"/>
            <a:ext cx="237744" cy="23774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5387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97280" y="3355848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serverless parts   </a:t>
            </a:r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S3, Lambda, Bedrock, static UI. Near-zero idle cost; right-sized to the problem.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02920" y="4032504"/>
            <a:ext cx="818388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F2942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5800" y="4215384"/>
            <a:ext cx="237744" cy="23774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42153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97280" y="4032504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now, live-ready   </a:t>
            </a:r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 scheduled harvest. Swap to live MSTR REST / MCP if current-state ACLs are ever required.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TRADEOFFS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the obvious alternatives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8388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F2942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4904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Base / RAG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1234440" cy="292608"/>
          </a:xfrm>
          <a:prstGeom prst="roundRect">
            <a:avLst>
              <a:gd name="adj" fmla="val 12500"/>
            </a:avLst>
          </a:prstGeom>
          <a:solidFill>
            <a:srgbClr val="B23A48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202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977640" y="1481328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semantically similar chunks — can miss ACL entries. Permissions need exact, complete answers. Also carried a standing vector-store cost.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468880"/>
            <a:ext cx="818388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F2942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58775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NL → SQL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731520" y="3017520"/>
            <a:ext cx="1234440" cy="292608"/>
          </a:xfrm>
          <a:prstGeom prst="roundRect">
            <a:avLst>
              <a:gd name="adj" fmla="val 12500"/>
            </a:avLst>
          </a:prstGeom>
          <a:solidFill>
            <a:srgbClr val="B7791F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0175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needed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77640" y="2578608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Flexible, but adds an arbitrary-SQL surface and a validation layer. Unnecessary for a bounded, predictable question set.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566160"/>
            <a:ext cx="818388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F2942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" y="36850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Athena from day one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731520" y="4114800"/>
            <a:ext cx="1234440" cy="292608"/>
          </a:xfrm>
          <a:prstGeom prst="roundRect">
            <a:avLst>
              <a:gd name="adj" fmla="val 12500"/>
            </a:avLst>
          </a:prstGeom>
          <a:solidFill>
            <a:srgbClr val="B7791F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11480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3675888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at scale, but the metadata is small (MB). In-Lambda query is fewer moving parts; Athena is the documented graduation path.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FOOTPRINT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Serverless, pay-per-use, nothing idling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16395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37560" y="169164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16395A"/>
          </a:solidFill>
          <a:ln/>
        </p:spPr>
      </p:sp>
      <p:sp>
        <p:nvSpPr>
          <p:cNvPr id="8" name="Text 6"/>
          <p:cNvSpPr/>
          <p:nvPr/>
        </p:nvSpPr>
        <p:spPr>
          <a:xfrm>
            <a:off x="3337560" y="178308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337560" y="26060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cost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035040" y="169164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16395A"/>
          </a:solidFill>
          <a:ln/>
        </p:spPr>
      </p:sp>
      <p:sp>
        <p:nvSpPr>
          <p:cNvPr id="11" name="Text 9"/>
          <p:cNvSpPr/>
          <p:nvPr/>
        </p:nvSpPr>
        <p:spPr>
          <a:xfrm>
            <a:off x="6035040" y="178308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~¢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6035040" y="26060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query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3465576"/>
            <a:ext cx="128016" cy="128016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3374136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— holds the structured metadata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85800" y="3831336"/>
            <a:ext cx="128016" cy="128016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739896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— coordinates + runs the lookup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85800" y="4197096"/>
            <a:ext cx="128016" cy="128016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4105656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(Claude) — forms query, explains result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85800" y="4562856"/>
            <a:ext cx="128016" cy="128016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4471416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(static) — the UI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ACCURACY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by construction, exact by design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977640" cy="1234440"/>
          </a:xfrm>
          <a:prstGeom prst="roundRect">
            <a:avLst>
              <a:gd name="adj" fmla="val 518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38100" dir="5400000">
              <a:srgbClr val="0F294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45920"/>
            <a:ext cx="274320" cy="27432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24712" y="161848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executes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58952" y="203911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Cube SQL is shown, never run — no path to MSTR runtime or the warehouse.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54880" y="1417320"/>
            <a:ext cx="3977640" cy="1234440"/>
          </a:xfrm>
          <a:prstGeom prst="roundRect">
            <a:avLst>
              <a:gd name="adj" fmla="val 518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38100" dir="5400000">
              <a:srgbClr val="0F294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983480" y="1645920"/>
            <a:ext cx="274320" cy="27432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376672" y="161848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answers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10912" y="203911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results come from real queries — complete, not a best-match guess.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2926080"/>
            <a:ext cx="3977640" cy="1234440"/>
          </a:xfrm>
          <a:prstGeom prst="roundRect">
            <a:avLst>
              <a:gd name="adj" fmla="val 518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38100" dir="5400000">
              <a:srgbClr val="0F2942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3154680"/>
            <a:ext cx="274320" cy="27432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24712" y="312724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58952" y="354787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access over a snapshot; scoped IAM on the Lambda.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54880" y="2926080"/>
            <a:ext cx="3977640" cy="1234440"/>
          </a:xfrm>
          <a:prstGeom prst="roundRect">
            <a:avLst>
              <a:gd name="adj" fmla="val 518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38100" dir="5400000">
              <a:srgbClr val="0F2942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83480" y="3154680"/>
            <a:ext cx="274320" cy="27432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1" name="Text 19"/>
          <p:cNvSpPr/>
          <p:nvPr/>
        </p:nvSpPr>
        <p:spPr>
          <a:xfrm>
            <a:off x="498348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376672" y="312724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exposure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010912" y="354787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never sees the bulk metadata — only the question and the answer rows.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at four boxes — earn the fifth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838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40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this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Athena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Metadata grows large, or many concurrent users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Gateway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Throttling, API keys, or external exposure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CloudFront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domain + TLS for the UI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NL → SQL + validation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Questions become genuinely open-ended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MSTR REST (MCP)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Users need current-state ACLs, not snapshots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box above is deliberately out of v1. Each has one clear trigger — none are added by default.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80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at four boxes.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 the fifth.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2926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3246120"/>
            <a:ext cx="310896" cy="310896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3246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" y="3227832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the metadata schema — tables and fields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85800" y="3666744"/>
            <a:ext cx="310896" cy="310896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43000" y="3648456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lookup templates against real columns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85800" y="4087368"/>
            <a:ext cx="310896" cy="310896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43000" y="406908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Lambda + Bedrock + static UI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85800" y="4507992"/>
            <a:ext cx="310896" cy="310896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507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3000" y="4489704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against live harvested metadata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MicroStrategy Metadata Q&amp;A Assistant</dc:title>
  <dc:subject>PptxGenJS Presentation</dc:subject>
  <dc:creator>Architecture Review</dc:creator>
  <cp:lastModifiedBy>Architecture Review</cp:lastModifiedBy>
  <cp:revision>1</cp:revision>
  <dcterms:created xsi:type="dcterms:W3CDTF">2026-06-26T15:01:52Z</dcterms:created>
  <dcterms:modified xsi:type="dcterms:W3CDTF">2026-06-26T15:01:52Z</dcterms:modified>
</cp:coreProperties>
</file>