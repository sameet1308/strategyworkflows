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46304"/>
            <a:ext cx="8412480" cy="27432"/>
          </a:xfrm>
          <a:prstGeom prst="rect">
            <a:avLst/>
          </a:prstGeom>
          <a:solidFill>
            <a:srgbClr val="1A1A1A"/>
          </a:solidFill>
          <a:ln w="12700">
            <a:solidFill>
              <a:srgbClr val="1A1A1A"/>
            </a:solidFill>
            <a:prstDash val="solid"/>
          </a:ln>
        </p:spPr>
      </p:sp>
      <p:sp>
        <p:nvSpPr>
          <p:cNvPr id="3" name="Text 1"/>
          <p:cNvSpPr/>
          <p:nvPr/>
        </p:nvSpPr>
        <p:spPr>
          <a:xfrm>
            <a:off x="365760" y="219456"/>
            <a:ext cx="8412480" cy="384048"/>
          </a:xfrm>
          <a:prstGeom prst="rect">
            <a:avLst/>
          </a:prstGeom>
          <a:noFill/>
          <a:ln/>
        </p:spPr>
        <p:txBody>
          <a:bodyPr wrap="square" lIns="0" tIns="0" rIns="0" bIns="0" rtlCol="0" anchor="ctr"/>
          <a:lstStyle/>
          <a:p>
            <a:pPr algn="l" indent="0" marL="0">
              <a:buNone/>
            </a:pPr>
            <a:r>
              <a:rPr lang="en-US" sz="1600" b="1" dirty="0">
                <a:solidFill>
                  <a:srgbClr val="1A1A1A"/>
                </a:solidFill>
                <a:latin typeface="Calibri" pitchFamily="34" charset="0"/>
                <a:ea typeface="Calibri" pitchFamily="34" charset="-122"/>
                <a:cs typeface="Calibri" pitchFamily="34" charset="-120"/>
              </a:rPr>
              <a:t>MSTR Strategy ONE — AI Agent: What We Tested</a:t>
            </a:r>
            <a:endParaRPr lang="en-US" sz="1600" dirty="0"/>
          </a:p>
        </p:txBody>
      </p:sp>
      <p:sp>
        <p:nvSpPr>
          <p:cNvPr id="4" name="Text 2"/>
          <p:cNvSpPr/>
          <p:nvPr/>
        </p:nvSpPr>
        <p:spPr>
          <a:xfrm>
            <a:off x="365760" y="576072"/>
            <a:ext cx="8412480" cy="182880"/>
          </a:xfrm>
          <a:prstGeom prst="rect">
            <a:avLst/>
          </a:prstGeom>
          <a:noFill/>
          <a:ln/>
        </p:spPr>
        <p:txBody>
          <a:bodyPr wrap="square" lIns="0" tIns="0" rIns="0" bIns="0" rtlCol="0" anchor="ctr"/>
          <a:lstStyle/>
          <a:p>
            <a:pPr indent="0" marL="0">
              <a:buNone/>
            </a:pPr>
            <a:r>
              <a:rPr lang="en-US" sz="850" spc="50" kern="0" dirty="0">
                <a:solidFill>
                  <a:srgbClr val="888888"/>
                </a:solidFill>
                <a:latin typeface="Calibri" pitchFamily="34" charset="0"/>
                <a:ea typeface="Calibri" pitchFamily="34" charset="-122"/>
                <a:cs typeface="Calibri" pitchFamily="34" charset="-120"/>
              </a:rPr>
              <a:t>March 2026  ·  Commercial Insurance BI  ·  Self-Service NLP Agent on your data</a:t>
            </a:r>
            <a:endParaRPr lang="en-US" sz="850" dirty="0"/>
          </a:p>
        </p:txBody>
      </p:sp>
      <p:sp>
        <p:nvSpPr>
          <p:cNvPr id="5" name="Shape 3"/>
          <p:cNvSpPr/>
          <p:nvPr/>
        </p:nvSpPr>
        <p:spPr>
          <a:xfrm>
            <a:off x="365760" y="758952"/>
            <a:ext cx="8412480" cy="13716"/>
          </a:xfrm>
          <a:prstGeom prst="rect">
            <a:avLst/>
          </a:prstGeom>
          <a:solidFill>
            <a:srgbClr val="DDDDDD"/>
          </a:solidFill>
          <a:ln w="12700">
            <a:solidFill>
              <a:srgbClr val="DDDDDD"/>
            </a:solidFill>
            <a:prstDash val="solid"/>
          </a:ln>
        </p:spPr>
      </p:sp>
      <p:sp>
        <p:nvSpPr>
          <p:cNvPr id="6" name="Text 4"/>
          <p:cNvSpPr/>
          <p:nvPr/>
        </p:nvSpPr>
        <p:spPr>
          <a:xfrm>
            <a:off x="365760" y="822960"/>
            <a:ext cx="8412480" cy="219456"/>
          </a:xfrm>
          <a:prstGeom prst="rect">
            <a:avLst/>
          </a:prstGeom>
          <a:noFill/>
          <a:ln/>
        </p:spPr>
        <p:txBody>
          <a:bodyPr wrap="square" lIns="0" tIns="0" rIns="0" bIns="0" rtlCol="0" anchor="ctr"/>
          <a:lstStyle/>
          <a:p>
            <a:pPr indent="0" marL="0">
              <a:buNone/>
            </a:pPr>
            <a:r>
              <a:rPr lang="en-US" sz="900" b="1" dirty="0">
                <a:solidFill>
                  <a:srgbClr val="166534"/>
                </a:solidFill>
                <a:latin typeface="Calibri" pitchFamily="34" charset="0"/>
                <a:ea typeface="Calibri" pitchFamily="34" charset="-122"/>
                <a:cs typeface="Calibri" pitchFamily="34" charset="-120"/>
              </a:rPr>
              <a:t>✔  IN SCOPE — TESTED</a:t>
            </a:r>
            <a:endParaRPr lang="en-US" sz="900" dirty="0"/>
          </a:p>
        </p:txBody>
      </p:sp>
      <p:sp>
        <p:nvSpPr>
          <p:cNvPr id="7" name="Shape 5"/>
          <p:cNvSpPr/>
          <p:nvPr/>
        </p:nvSpPr>
        <p:spPr>
          <a:xfrm>
            <a:off x="365760" y="1042416"/>
            <a:ext cx="8412480" cy="274320"/>
          </a:xfrm>
          <a:prstGeom prst="rect">
            <a:avLst/>
          </a:prstGeom>
          <a:solidFill>
            <a:srgbClr val="1A1A1A"/>
          </a:solidFill>
          <a:ln w="12700">
            <a:solidFill>
              <a:srgbClr val="1A1A1A"/>
            </a:solidFill>
            <a:prstDash val="solid"/>
          </a:ln>
        </p:spPr>
      </p:sp>
      <p:sp>
        <p:nvSpPr>
          <p:cNvPr id="8" name="Text 6"/>
          <p:cNvSpPr/>
          <p:nvPr/>
        </p:nvSpPr>
        <p:spPr>
          <a:xfrm>
            <a:off x="457200" y="1042416"/>
            <a:ext cx="1920240" cy="274320"/>
          </a:xfrm>
          <a:prstGeom prst="rect">
            <a:avLst/>
          </a:prstGeom>
          <a:noFill/>
          <a:ln/>
        </p:spPr>
        <p:txBody>
          <a:bodyPr wrap="square" lIns="0" tIns="0" rIns="0" bIns="0" rtlCol="0" anchor="ctr"/>
          <a:lstStyle/>
          <a:p>
            <a:pPr algn="l" indent="0" marL="0">
              <a:buNone/>
            </a:pPr>
            <a:r>
              <a:rPr lang="en-US" sz="800" b="1" spc="100" kern="0" dirty="0">
                <a:solidFill>
                  <a:srgbClr val="FFFFFF"/>
                </a:solidFill>
                <a:latin typeface="Calibri" pitchFamily="34" charset="0"/>
                <a:ea typeface="Calibri" pitchFamily="34" charset="-122"/>
                <a:cs typeface="Calibri" pitchFamily="34" charset="-120"/>
              </a:rPr>
              <a:t>AGENT TYPE</a:t>
            </a:r>
            <a:endParaRPr lang="en-US" sz="800" dirty="0"/>
          </a:p>
        </p:txBody>
      </p:sp>
      <p:sp>
        <p:nvSpPr>
          <p:cNvPr id="9" name="Text 7"/>
          <p:cNvSpPr/>
          <p:nvPr/>
        </p:nvSpPr>
        <p:spPr>
          <a:xfrm>
            <a:off x="2377440" y="1042416"/>
            <a:ext cx="6492240" cy="274320"/>
          </a:xfrm>
          <a:prstGeom prst="rect">
            <a:avLst/>
          </a:prstGeom>
          <a:noFill/>
          <a:ln/>
        </p:spPr>
        <p:txBody>
          <a:bodyPr wrap="square" lIns="0" tIns="0" rIns="0" bIns="0" rtlCol="0" anchor="ctr"/>
          <a:lstStyle/>
          <a:p>
            <a:pPr algn="l" indent="0" marL="0">
              <a:buNone/>
            </a:pPr>
            <a:r>
              <a:rPr lang="en-US" sz="800" b="1" spc="100" kern="0" dirty="0">
                <a:solidFill>
                  <a:srgbClr val="FFFFFF"/>
                </a:solidFill>
                <a:latin typeface="Calibri" pitchFamily="34" charset="0"/>
                <a:ea typeface="Calibri" pitchFamily="34" charset="-122"/>
                <a:cs typeface="Calibri" pitchFamily="34" charset="-120"/>
              </a:rPr>
              <a:t>KEY OBSERVATION</a:t>
            </a:r>
            <a:endParaRPr lang="en-US" sz="800" dirty="0"/>
          </a:p>
        </p:txBody>
      </p:sp>
      <p:sp>
        <p:nvSpPr>
          <p:cNvPr id="10" name="Shape 8"/>
          <p:cNvSpPr/>
          <p:nvPr/>
        </p:nvSpPr>
        <p:spPr>
          <a:xfrm>
            <a:off x="365760" y="1316736"/>
            <a:ext cx="8412480" cy="713232"/>
          </a:xfrm>
          <a:prstGeom prst="rect">
            <a:avLst/>
          </a:prstGeom>
          <a:solidFill>
            <a:srgbClr val="FFFFFF"/>
          </a:solidFill>
          <a:ln w="12700">
            <a:solidFill>
              <a:srgbClr val="DDDDDD"/>
            </a:solidFill>
            <a:prstDash val="solid"/>
          </a:ln>
        </p:spPr>
      </p:sp>
      <p:sp>
        <p:nvSpPr>
          <p:cNvPr id="11" name="Shape 9"/>
          <p:cNvSpPr/>
          <p:nvPr/>
        </p:nvSpPr>
        <p:spPr>
          <a:xfrm>
            <a:off x="365760" y="1316736"/>
            <a:ext cx="1920240" cy="713232"/>
          </a:xfrm>
          <a:prstGeom prst="rect">
            <a:avLst/>
          </a:prstGeom>
          <a:solidFill>
            <a:srgbClr val="F2F4F7"/>
          </a:solidFill>
          <a:ln w="12700">
            <a:solidFill>
              <a:srgbClr val="DDDDDD"/>
            </a:solidFill>
            <a:prstDash val="solid"/>
          </a:ln>
        </p:spPr>
      </p:sp>
      <p:sp>
        <p:nvSpPr>
          <p:cNvPr id="12" name="Shape 10"/>
          <p:cNvSpPr/>
          <p:nvPr/>
        </p:nvSpPr>
        <p:spPr>
          <a:xfrm>
            <a:off x="365760" y="1316736"/>
            <a:ext cx="36576" cy="713232"/>
          </a:xfrm>
          <a:prstGeom prst="rect">
            <a:avLst/>
          </a:prstGeom>
          <a:solidFill>
            <a:srgbClr val="22C55E"/>
          </a:solidFill>
          <a:ln w="12700">
            <a:solidFill>
              <a:srgbClr val="22C55E"/>
            </a:solidFill>
            <a:prstDash val="solid"/>
          </a:ln>
        </p:spPr>
      </p:sp>
      <p:sp>
        <p:nvSpPr>
          <p:cNvPr id="13" name="Text 11"/>
          <p:cNvSpPr/>
          <p:nvPr/>
        </p:nvSpPr>
        <p:spPr>
          <a:xfrm>
            <a:off x="457200" y="1371600"/>
            <a:ext cx="1792224" cy="621792"/>
          </a:xfrm>
          <a:prstGeom prst="rect">
            <a:avLst/>
          </a:prstGeom>
          <a:noFill/>
          <a:ln/>
        </p:spPr>
        <p:txBody>
          <a:bodyPr wrap="square" lIns="0" tIns="0" rIns="0" bIns="0" rtlCol="0" anchor="ctr"/>
          <a:lstStyle/>
          <a:p>
            <a:pPr algn="l" indent="0" marL="0">
              <a:buNone/>
            </a:pPr>
            <a:r>
              <a:rPr lang="en-US" sz="850" b="1" dirty="0">
                <a:solidFill>
                  <a:srgbClr val="333333"/>
                </a:solidFill>
                <a:latin typeface="Calibri" pitchFamily="34" charset="0"/>
                <a:ea typeface="Calibri" pitchFamily="34" charset="-122"/>
                <a:cs typeface="Calibri" pitchFamily="34" charset="-120"/>
              </a:rPr>
              <a:t>Self-Service NLP Agent</a:t>
            </a:r>
            <a:endParaRPr lang="en-US" sz="850" dirty="0"/>
          </a:p>
          <a:p>
            <a:pPr algn="l" indent="0" marL="0">
              <a:buNone/>
            </a:pPr>
            <a:r>
              <a:rPr lang="en-US" sz="850" b="1" dirty="0">
                <a:solidFill>
                  <a:srgbClr val="333333"/>
                </a:solidFill>
                <a:latin typeface="Calibri" pitchFamily="34" charset="0"/>
                <a:ea typeface="Calibri" pitchFamily="34" charset="-122"/>
                <a:cs typeface="Calibri" pitchFamily="34" charset="-120"/>
              </a:rPr>
              <a:t>(Mosaic Model / AI Dataset</a:t>
            </a:r>
            <a:endParaRPr lang="en-US" sz="850" dirty="0"/>
          </a:p>
          <a:p>
            <a:pPr algn="l" indent="0" marL="0">
              <a:buNone/>
            </a:pPr>
            <a:r>
              <a:rPr lang="en-US" sz="850" b="1" dirty="0">
                <a:solidFill>
                  <a:srgbClr val="333333"/>
                </a:solidFill>
                <a:latin typeface="Calibri" pitchFamily="34" charset="0"/>
                <a:ea typeface="Calibri" pitchFamily="34" charset="-122"/>
                <a:cs typeface="Calibri" pitchFamily="34" charset="-120"/>
              </a:rPr>
              <a:t>Collection)</a:t>
            </a:r>
            <a:endParaRPr lang="en-US" sz="850" dirty="0"/>
          </a:p>
        </p:txBody>
      </p:sp>
      <p:sp>
        <p:nvSpPr>
          <p:cNvPr id="14" name="Text 12"/>
          <p:cNvSpPr/>
          <p:nvPr/>
        </p:nvSpPr>
        <p:spPr>
          <a:xfrm>
            <a:off x="2377440" y="1371600"/>
            <a:ext cx="6345936" cy="621792"/>
          </a:xfrm>
          <a:prstGeom prst="rect">
            <a:avLst/>
          </a:prstGeom>
          <a:noFill/>
          <a:ln/>
        </p:spPr>
        <p:txBody>
          <a:bodyPr wrap="square" lIns="0" tIns="0" rIns="0" bIns="0" rtlCol="0" anchor="ctr"/>
          <a:lstStyle/>
          <a:p>
            <a:pPr algn="l" indent="0" marL="0">
              <a:buNone/>
            </a:pPr>
            <a:r>
              <a:rPr lang="en-US" sz="920" dirty="0">
                <a:solidFill>
                  <a:srgbClr val="333333"/>
                </a:solidFill>
                <a:latin typeface="Calibri" pitchFamily="34" charset="0"/>
                <a:ea typeface="Calibri" pitchFamily="34" charset="-122"/>
                <a:cs typeface="Calibri" pitchFamily="34" charset="-120"/>
              </a:rPr>
              <a:t>Agent answers questions in plain English on top of your data. Accuracy depends entirely on how well you set up the Mosaic model — the descriptions on every metric and column, the joins you define, and the business context you build in. You may need to create additional joins specifically to set the right context. The agent cannot guess. It only knows what you tell it.</a:t>
            </a:r>
            <a:endParaRPr lang="en-US" sz="920" dirty="0"/>
          </a:p>
        </p:txBody>
      </p:sp>
      <p:sp>
        <p:nvSpPr>
          <p:cNvPr id="15" name="Shape 13"/>
          <p:cNvSpPr/>
          <p:nvPr/>
        </p:nvSpPr>
        <p:spPr>
          <a:xfrm>
            <a:off x="365760" y="2029968"/>
            <a:ext cx="8412480" cy="640080"/>
          </a:xfrm>
          <a:prstGeom prst="rect">
            <a:avLst/>
          </a:prstGeom>
          <a:solidFill>
            <a:srgbClr val="FAFBFC"/>
          </a:solidFill>
          <a:ln w="12700">
            <a:solidFill>
              <a:srgbClr val="DDDDDD"/>
            </a:solidFill>
            <a:prstDash val="solid"/>
          </a:ln>
        </p:spPr>
      </p:sp>
      <p:sp>
        <p:nvSpPr>
          <p:cNvPr id="16" name="Shape 14"/>
          <p:cNvSpPr/>
          <p:nvPr/>
        </p:nvSpPr>
        <p:spPr>
          <a:xfrm>
            <a:off x="365760" y="2029968"/>
            <a:ext cx="1920240" cy="640080"/>
          </a:xfrm>
          <a:prstGeom prst="rect">
            <a:avLst/>
          </a:prstGeom>
          <a:solidFill>
            <a:srgbClr val="F2F4F7"/>
          </a:solidFill>
          <a:ln w="12700">
            <a:solidFill>
              <a:srgbClr val="DDDDDD"/>
            </a:solidFill>
            <a:prstDash val="solid"/>
          </a:ln>
        </p:spPr>
      </p:sp>
      <p:sp>
        <p:nvSpPr>
          <p:cNvPr id="17" name="Shape 15"/>
          <p:cNvSpPr/>
          <p:nvPr/>
        </p:nvSpPr>
        <p:spPr>
          <a:xfrm>
            <a:off x="365760" y="2029968"/>
            <a:ext cx="36576" cy="640080"/>
          </a:xfrm>
          <a:prstGeom prst="rect">
            <a:avLst/>
          </a:prstGeom>
          <a:solidFill>
            <a:srgbClr val="22C55E"/>
          </a:solidFill>
          <a:ln w="12700">
            <a:solidFill>
              <a:srgbClr val="22C55E"/>
            </a:solidFill>
            <a:prstDash val="solid"/>
          </a:ln>
        </p:spPr>
      </p:sp>
      <p:sp>
        <p:nvSpPr>
          <p:cNvPr id="18" name="Text 16"/>
          <p:cNvSpPr/>
          <p:nvPr/>
        </p:nvSpPr>
        <p:spPr>
          <a:xfrm>
            <a:off x="457200" y="2084832"/>
            <a:ext cx="1792224" cy="548640"/>
          </a:xfrm>
          <a:prstGeom prst="rect">
            <a:avLst/>
          </a:prstGeom>
          <a:noFill/>
          <a:ln/>
        </p:spPr>
        <p:txBody>
          <a:bodyPr wrap="square" lIns="0" tIns="0" rIns="0" bIns="0" rtlCol="0" anchor="ctr"/>
          <a:lstStyle/>
          <a:p>
            <a:pPr algn="l" indent="0" marL="0">
              <a:buNone/>
            </a:pPr>
            <a:r>
              <a:rPr lang="en-US" sz="850" b="1" dirty="0">
                <a:solidFill>
                  <a:srgbClr val="333333"/>
                </a:solidFill>
                <a:latin typeface="Calibri" pitchFamily="34" charset="0"/>
                <a:ea typeface="Calibri" pitchFamily="34" charset="-122"/>
                <a:cs typeface="Calibri" pitchFamily="34" charset="-120"/>
              </a:rPr>
              <a:t>Self-Service NLP Agent</a:t>
            </a:r>
            <a:endParaRPr lang="en-US" sz="850" dirty="0"/>
          </a:p>
          <a:p>
            <a:pPr algn="l" indent="0" marL="0">
              <a:buNone/>
            </a:pPr>
            <a:r>
              <a:rPr lang="en-US" sz="850" b="1" dirty="0">
                <a:solidFill>
                  <a:srgbClr val="333333"/>
                </a:solidFill>
                <a:latin typeface="Calibri" pitchFamily="34" charset="0"/>
                <a:ea typeface="Calibri" pitchFamily="34" charset="-122"/>
                <a:cs typeface="Calibri" pitchFamily="34" charset="-120"/>
              </a:rPr>
              <a:t>(MSTR Intelligent Cubes)</a:t>
            </a:r>
            <a:endParaRPr lang="en-US" sz="850" dirty="0"/>
          </a:p>
        </p:txBody>
      </p:sp>
      <p:sp>
        <p:nvSpPr>
          <p:cNvPr id="19" name="Text 17"/>
          <p:cNvSpPr/>
          <p:nvPr/>
        </p:nvSpPr>
        <p:spPr>
          <a:xfrm>
            <a:off x="2377440" y="2084832"/>
            <a:ext cx="6345936" cy="548640"/>
          </a:xfrm>
          <a:prstGeom prst="rect">
            <a:avLst/>
          </a:prstGeom>
          <a:noFill/>
          <a:ln/>
        </p:spPr>
        <p:txBody>
          <a:bodyPr wrap="square" lIns="0" tIns="0" rIns="0" bIns="0" rtlCol="0" anchor="ctr"/>
          <a:lstStyle/>
          <a:p>
            <a:pPr algn="l" indent="0" marL="0">
              <a:buNone/>
            </a:pPr>
            <a:r>
              <a:rPr lang="en-US" sz="920" dirty="0">
                <a:solidFill>
                  <a:srgbClr val="333333"/>
                </a:solidFill>
                <a:latin typeface="Calibri" pitchFamily="34" charset="0"/>
                <a:ea typeface="Calibri" pitchFamily="34" charset="-122"/>
                <a:cs typeface="Calibri" pitchFamily="34" charset="-120"/>
              </a:rPr>
              <a:t>Same principle — but the context lives in the cube schema (attribute and metric descriptions set in Workstation). Works well for familiar, pre-defined questions. Cannot go beyond what the cube was built to answer. Strong results when the cube is purpose-built with clear descriptions.</a:t>
            </a:r>
            <a:endParaRPr lang="en-US" sz="920" dirty="0"/>
          </a:p>
        </p:txBody>
      </p:sp>
      <p:sp>
        <p:nvSpPr>
          <p:cNvPr id="20" name="Shape 18"/>
          <p:cNvSpPr/>
          <p:nvPr/>
        </p:nvSpPr>
        <p:spPr>
          <a:xfrm>
            <a:off x="365760" y="2761488"/>
            <a:ext cx="8412480" cy="1389888"/>
          </a:xfrm>
          <a:prstGeom prst="rect">
            <a:avLst/>
          </a:prstGeom>
          <a:solidFill>
            <a:srgbClr val="EFF6FF"/>
          </a:solidFill>
          <a:ln w="12700">
            <a:solidFill>
              <a:srgbClr val="BFDBFE"/>
            </a:solidFill>
            <a:prstDash val="solid"/>
          </a:ln>
        </p:spPr>
      </p:sp>
      <p:sp>
        <p:nvSpPr>
          <p:cNvPr id="21" name="Shape 19"/>
          <p:cNvSpPr/>
          <p:nvPr/>
        </p:nvSpPr>
        <p:spPr>
          <a:xfrm>
            <a:off x="365760" y="2761488"/>
            <a:ext cx="36576" cy="1389888"/>
          </a:xfrm>
          <a:prstGeom prst="rect">
            <a:avLst/>
          </a:prstGeom>
          <a:solidFill>
            <a:srgbClr val="1A56DB"/>
          </a:solidFill>
          <a:ln w="12700">
            <a:solidFill>
              <a:srgbClr val="1A56DB"/>
            </a:solidFill>
            <a:prstDash val="solid"/>
          </a:ln>
        </p:spPr>
      </p:sp>
      <p:sp>
        <p:nvSpPr>
          <p:cNvPr id="22" name="Text 20"/>
          <p:cNvSpPr/>
          <p:nvPr/>
        </p:nvSpPr>
        <p:spPr>
          <a:xfrm>
            <a:off x="502920" y="2852928"/>
            <a:ext cx="8138160" cy="237744"/>
          </a:xfrm>
          <a:prstGeom prst="rect">
            <a:avLst/>
          </a:prstGeom>
          <a:noFill/>
          <a:ln/>
        </p:spPr>
        <p:txBody>
          <a:bodyPr wrap="square" lIns="0" tIns="0" rIns="0" bIns="0" rtlCol="0" anchor="ctr"/>
          <a:lstStyle/>
          <a:p>
            <a:pPr indent="0" marL="0">
              <a:buNone/>
            </a:pPr>
            <a:r>
              <a:rPr lang="en-US" sz="950" b="1" dirty="0">
                <a:solidFill>
                  <a:srgbClr val="1A56DB"/>
                </a:solidFill>
                <a:latin typeface="Calibri" pitchFamily="34" charset="0"/>
                <a:ea typeface="Calibri" pitchFamily="34" charset="-122"/>
                <a:cs typeface="Calibri" pitchFamily="34" charset="-120"/>
              </a:rPr>
              <a:t>What drives accuracy — 4 things every architect must get right:</a:t>
            </a:r>
            <a:endParaRPr lang="en-US" sz="950" dirty="0"/>
          </a:p>
        </p:txBody>
      </p:sp>
      <p:sp>
        <p:nvSpPr>
          <p:cNvPr id="23" name="Text 21"/>
          <p:cNvSpPr/>
          <p:nvPr/>
        </p:nvSpPr>
        <p:spPr>
          <a:xfrm>
            <a:off x="530352" y="3108960"/>
            <a:ext cx="8119872" cy="237744"/>
          </a:xfrm>
          <a:prstGeom prst="rect">
            <a:avLst/>
          </a:prstGeom>
          <a:noFill/>
          <a:ln/>
        </p:spPr>
        <p:txBody>
          <a:bodyPr wrap="square" lIns="0" tIns="0" rIns="0" bIns="0" rtlCol="0" anchor="ctr"/>
          <a:lstStyle/>
          <a:p>
            <a:pPr algn="l" indent="0" marL="0">
              <a:buNone/>
            </a:pPr>
            <a:r>
              <a:rPr lang="en-US" sz="900" dirty="0">
                <a:solidFill>
                  <a:srgbClr val="333333"/>
                </a:solidFill>
                <a:latin typeface="Calibri" pitchFamily="34" charset="0"/>
                <a:ea typeface="Calibri" pitchFamily="34" charset="-122"/>
                <a:cs typeface="Calibri" pitchFamily="34" charset="-120"/>
              </a:rPr>
              <a:t>1.  Descriptions on every metric, attribute, and column — in plain business English. These are the agent's instruction manual.</a:t>
            </a:r>
            <a:endParaRPr lang="en-US" sz="900" dirty="0"/>
          </a:p>
        </p:txBody>
      </p:sp>
      <p:sp>
        <p:nvSpPr>
          <p:cNvPr id="24" name="Text 22"/>
          <p:cNvSpPr/>
          <p:nvPr/>
        </p:nvSpPr>
        <p:spPr>
          <a:xfrm>
            <a:off x="530352" y="3355848"/>
            <a:ext cx="8119872" cy="237744"/>
          </a:xfrm>
          <a:prstGeom prst="rect">
            <a:avLst/>
          </a:prstGeom>
          <a:noFill/>
          <a:ln/>
        </p:spPr>
        <p:txBody>
          <a:bodyPr wrap="square" lIns="0" tIns="0" rIns="0" bIns="0" rtlCol="0" anchor="ctr"/>
          <a:lstStyle/>
          <a:p>
            <a:pPr algn="l" indent="0" marL="0">
              <a:buNone/>
            </a:pPr>
            <a:r>
              <a:rPr lang="en-US" sz="900" dirty="0">
                <a:solidFill>
                  <a:srgbClr val="333333"/>
                </a:solidFill>
                <a:latin typeface="Calibri" pitchFamily="34" charset="0"/>
                <a:ea typeface="Calibri" pitchFamily="34" charset="-122"/>
                <a:cs typeface="Calibri" pitchFamily="34" charset="-120"/>
              </a:rPr>
              <a:t>2.  Joins must be explicitly defined in the Mosaic model. The agent's reasoning is only as deep as the relationships you model.</a:t>
            </a:r>
            <a:endParaRPr lang="en-US" sz="900" dirty="0"/>
          </a:p>
        </p:txBody>
      </p:sp>
      <p:sp>
        <p:nvSpPr>
          <p:cNvPr id="25" name="Text 23"/>
          <p:cNvSpPr/>
          <p:nvPr/>
        </p:nvSpPr>
        <p:spPr>
          <a:xfrm>
            <a:off x="530352" y="3602736"/>
            <a:ext cx="8119872" cy="237744"/>
          </a:xfrm>
          <a:prstGeom prst="rect">
            <a:avLst/>
          </a:prstGeom>
          <a:noFill/>
          <a:ln/>
        </p:spPr>
        <p:txBody>
          <a:bodyPr wrap="square" lIns="0" tIns="0" rIns="0" bIns="0" rtlCol="0" anchor="ctr"/>
          <a:lstStyle/>
          <a:p>
            <a:pPr algn="l" indent="0" marL="0">
              <a:buNone/>
            </a:pPr>
            <a:r>
              <a:rPr lang="en-US" sz="900" dirty="0">
                <a:solidFill>
                  <a:srgbClr val="333333"/>
                </a:solidFill>
                <a:latin typeface="Calibri" pitchFamily="34" charset="0"/>
                <a:ea typeface="Calibri" pitchFamily="34" charset="-122"/>
                <a:cs typeface="Calibri" pitchFamily="34" charset="-120"/>
              </a:rPr>
              <a:t>3.  Additional joins may need to be created purely to give the agent the right business context — even if they don't exist in the original data model.</a:t>
            </a:r>
            <a:endParaRPr lang="en-US" sz="900" dirty="0"/>
          </a:p>
        </p:txBody>
      </p:sp>
      <p:sp>
        <p:nvSpPr>
          <p:cNvPr id="26" name="Text 24"/>
          <p:cNvSpPr/>
          <p:nvPr/>
        </p:nvSpPr>
        <p:spPr>
          <a:xfrm>
            <a:off x="530352" y="3849624"/>
            <a:ext cx="8119872" cy="237744"/>
          </a:xfrm>
          <a:prstGeom prst="rect">
            <a:avLst/>
          </a:prstGeom>
          <a:noFill/>
          <a:ln/>
        </p:spPr>
        <p:txBody>
          <a:bodyPr wrap="square" lIns="0" tIns="0" rIns="0" bIns="0" rtlCol="0" anchor="ctr"/>
          <a:lstStyle/>
          <a:p>
            <a:pPr algn="l" indent="0" marL="0">
              <a:buNone/>
            </a:pPr>
            <a:r>
              <a:rPr lang="en-US" sz="900" dirty="0">
                <a:solidFill>
                  <a:srgbClr val="333333"/>
                </a:solidFill>
                <a:latin typeface="Calibri" pitchFamily="34" charset="0"/>
                <a:ea typeface="Calibri" pitchFamily="34" charset="-122"/>
                <a:cs typeface="Calibri" pitchFamily="34" charset="-120"/>
              </a:rPr>
              <a:t>4.  This is not a self-service setup. It requires deep knowledge of both the data architecture and the business domain.</a:t>
            </a:r>
            <a:endParaRPr lang="en-US" sz="900" dirty="0"/>
          </a:p>
        </p:txBody>
      </p:sp>
      <p:sp>
        <p:nvSpPr>
          <p:cNvPr id="27" name="Shape 25"/>
          <p:cNvSpPr/>
          <p:nvPr/>
        </p:nvSpPr>
        <p:spPr>
          <a:xfrm>
            <a:off x="365760" y="4919472"/>
            <a:ext cx="8412480" cy="18288"/>
          </a:xfrm>
          <a:prstGeom prst="rect">
            <a:avLst/>
          </a:prstGeom>
          <a:solidFill>
            <a:srgbClr val="1A1A1A"/>
          </a:solidFill>
          <a:ln w="12700">
            <a:solidFill>
              <a:srgbClr val="1A1A1A"/>
            </a:solidFill>
            <a:prstDash val="solid"/>
          </a:ln>
        </p:spPr>
      </p:sp>
      <p:sp>
        <p:nvSpPr>
          <p:cNvPr id="28" name="Text 26"/>
          <p:cNvSpPr/>
          <p:nvPr/>
        </p:nvSpPr>
        <p:spPr>
          <a:xfrm>
            <a:off x="365760" y="4956048"/>
            <a:ext cx="8412480" cy="146304"/>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MSTR Strategy ONE  ·  March 2026</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46304"/>
            <a:ext cx="8412480" cy="27432"/>
          </a:xfrm>
          <a:prstGeom prst="rect">
            <a:avLst/>
          </a:prstGeom>
          <a:solidFill>
            <a:srgbClr val="1A1A1A"/>
          </a:solidFill>
          <a:ln w="12700">
            <a:solidFill>
              <a:srgbClr val="1A1A1A"/>
            </a:solidFill>
            <a:prstDash val="solid"/>
          </a:ln>
        </p:spPr>
      </p:sp>
      <p:sp>
        <p:nvSpPr>
          <p:cNvPr id="3" name="Text 1"/>
          <p:cNvSpPr/>
          <p:nvPr/>
        </p:nvSpPr>
        <p:spPr>
          <a:xfrm>
            <a:off x="365760" y="219456"/>
            <a:ext cx="8412480" cy="384048"/>
          </a:xfrm>
          <a:prstGeom prst="rect">
            <a:avLst/>
          </a:prstGeom>
          <a:noFill/>
          <a:ln/>
        </p:spPr>
        <p:txBody>
          <a:bodyPr wrap="square" lIns="0" tIns="0" rIns="0" bIns="0" rtlCol="0" anchor="ctr"/>
          <a:lstStyle/>
          <a:p>
            <a:pPr algn="l" indent="0" marL="0">
              <a:buNone/>
            </a:pPr>
            <a:r>
              <a:rPr lang="en-US" sz="1600" b="1" dirty="0">
                <a:solidFill>
                  <a:srgbClr val="1A1A1A"/>
                </a:solidFill>
                <a:latin typeface="Calibri" pitchFamily="34" charset="0"/>
                <a:ea typeface="Calibri" pitchFamily="34" charset="-122"/>
                <a:cs typeface="Calibri" pitchFamily="34" charset="-120"/>
              </a:rPr>
              <a:t>MSTR Strategy ONE — AI Agent: What Else Is Available</a:t>
            </a:r>
            <a:endParaRPr lang="en-US" sz="1600" dirty="0"/>
          </a:p>
        </p:txBody>
      </p:sp>
      <p:sp>
        <p:nvSpPr>
          <p:cNvPr id="4" name="Text 2"/>
          <p:cNvSpPr/>
          <p:nvPr/>
        </p:nvSpPr>
        <p:spPr>
          <a:xfrm>
            <a:off x="365760" y="576072"/>
            <a:ext cx="8412480" cy="182880"/>
          </a:xfrm>
          <a:prstGeom prst="rect">
            <a:avLst/>
          </a:prstGeom>
          <a:noFill/>
          <a:ln/>
        </p:spPr>
        <p:txBody>
          <a:bodyPr wrap="square" lIns="0" tIns="0" rIns="0" bIns="0" rtlCol="0" anchor="ctr"/>
          <a:lstStyle/>
          <a:p>
            <a:pPr indent="0" marL="0">
              <a:buNone/>
            </a:pPr>
            <a:r>
              <a:rPr lang="en-US" sz="850" spc="50" kern="0" dirty="0">
                <a:solidFill>
                  <a:srgbClr val="888888"/>
                </a:solidFill>
                <a:latin typeface="Calibri" pitchFamily="34" charset="0"/>
                <a:ea typeface="Calibri" pitchFamily="34" charset="-122"/>
                <a:cs typeface="Calibri" pitchFamily="34" charset="-120"/>
              </a:rPr>
              <a:t>March 2026  ·  Available in the platform  ·  Not in scope for this engagement / Not yet tested</a:t>
            </a:r>
            <a:endParaRPr lang="en-US" sz="850" dirty="0"/>
          </a:p>
        </p:txBody>
      </p:sp>
      <p:sp>
        <p:nvSpPr>
          <p:cNvPr id="5" name="Shape 3"/>
          <p:cNvSpPr/>
          <p:nvPr/>
        </p:nvSpPr>
        <p:spPr>
          <a:xfrm>
            <a:off x="365760" y="758952"/>
            <a:ext cx="8412480" cy="13716"/>
          </a:xfrm>
          <a:prstGeom prst="rect">
            <a:avLst/>
          </a:prstGeom>
          <a:solidFill>
            <a:srgbClr val="DDDDDD"/>
          </a:solidFill>
          <a:ln w="12700">
            <a:solidFill>
              <a:srgbClr val="DDDDDD"/>
            </a:solidFill>
            <a:prstDash val="solid"/>
          </a:ln>
        </p:spPr>
      </p:sp>
      <p:sp>
        <p:nvSpPr>
          <p:cNvPr id="6" name="Text 4"/>
          <p:cNvSpPr/>
          <p:nvPr/>
        </p:nvSpPr>
        <p:spPr>
          <a:xfrm>
            <a:off x="365760" y="822960"/>
            <a:ext cx="8412480" cy="219456"/>
          </a:xfrm>
          <a:prstGeom prst="rect">
            <a:avLst/>
          </a:prstGeom>
          <a:noFill/>
          <a:ln/>
        </p:spPr>
        <p:txBody>
          <a:bodyPr wrap="square" lIns="0" tIns="0" rIns="0" bIns="0" rtlCol="0" anchor="ctr"/>
          <a:lstStyle/>
          <a:p>
            <a:pPr indent="0" marL="0">
              <a:buNone/>
            </a:pPr>
            <a:r>
              <a:rPr lang="en-US" sz="900" b="1" dirty="0">
                <a:solidFill>
                  <a:srgbClr val="6B7280"/>
                </a:solidFill>
                <a:latin typeface="Calibri" pitchFamily="34" charset="0"/>
                <a:ea typeface="Calibri" pitchFamily="34" charset="-122"/>
                <a:cs typeface="Calibri" pitchFamily="34" charset="-120"/>
              </a:rPr>
              <a:t>○  NOT IN THIS SCOPE — AVAILABLE IN MSTR STRATEGY ONE, NOT YET TESTED</a:t>
            </a:r>
            <a:endParaRPr lang="en-US" sz="900" dirty="0"/>
          </a:p>
        </p:txBody>
      </p:sp>
      <p:sp>
        <p:nvSpPr>
          <p:cNvPr id="7" name="Shape 5"/>
          <p:cNvSpPr/>
          <p:nvPr/>
        </p:nvSpPr>
        <p:spPr>
          <a:xfrm>
            <a:off x="365760" y="1042416"/>
            <a:ext cx="8412480" cy="274320"/>
          </a:xfrm>
          <a:prstGeom prst="rect">
            <a:avLst/>
          </a:prstGeom>
          <a:solidFill>
            <a:srgbClr val="4B5563"/>
          </a:solidFill>
          <a:ln w="12700">
            <a:solidFill>
              <a:srgbClr val="4B5563"/>
            </a:solidFill>
            <a:prstDash val="solid"/>
          </a:ln>
        </p:spPr>
      </p:sp>
      <p:sp>
        <p:nvSpPr>
          <p:cNvPr id="8" name="Text 6"/>
          <p:cNvSpPr/>
          <p:nvPr/>
        </p:nvSpPr>
        <p:spPr>
          <a:xfrm>
            <a:off x="457200" y="1042416"/>
            <a:ext cx="1920240" cy="274320"/>
          </a:xfrm>
          <a:prstGeom prst="rect">
            <a:avLst/>
          </a:prstGeom>
          <a:noFill/>
          <a:ln/>
        </p:spPr>
        <p:txBody>
          <a:bodyPr wrap="square" lIns="0" tIns="0" rIns="0" bIns="0" rtlCol="0" anchor="ctr"/>
          <a:lstStyle/>
          <a:p>
            <a:pPr algn="l" indent="0" marL="0">
              <a:buNone/>
            </a:pPr>
            <a:r>
              <a:rPr lang="en-US" sz="800" b="1" spc="100" kern="0" dirty="0">
                <a:solidFill>
                  <a:srgbClr val="FFFFFF"/>
                </a:solidFill>
                <a:latin typeface="Calibri" pitchFamily="34" charset="0"/>
                <a:ea typeface="Calibri" pitchFamily="34" charset="-122"/>
                <a:cs typeface="Calibri" pitchFamily="34" charset="-120"/>
              </a:rPr>
              <a:t>AGENT USE CASE</a:t>
            </a:r>
            <a:endParaRPr lang="en-US" sz="800" dirty="0"/>
          </a:p>
        </p:txBody>
      </p:sp>
      <p:sp>
        <p:nvSpPr>
          <p:cNvPr id="9" name="Text 7"/>
          <p:cNvSpPr/>
          <p:nvPr/>
        </p:nvSpPr>
        <p:spPr>
          <a:xfrm>
            <a:off x="2377440" y="1042416"/>
            <a:ext cx="5376672" cy="274320"/>
          </a:xfrm>
          <a:prstGeom prst="rect">
            <a:avLst/>
          </a:prstGeom>
          <a:noFill/>
          <a:ln/>
        </p:spPr>
        <p:txBody>
          <a:bodyPr wrap="square" lIns="0" tIns="0" rIns="0" bIns="0" rtlCol="0" anchor="ctr"/>
          <a:lstStyle/>
          <a:p>
            <a:pPr algn="l" indent="0" marL="0">
              <a:buNone/>
            </a:pPr>
            <a:r>
              <a:rPr lang="en-US" sz="800" b="1" spc="100" kern="0" dirty="0">
                <a:solidFill>
                  <a:srgbClr val="FFFFFF"/>
                </a:solidFill>
                <a:latin typeface="Calibri" pitchFamily="34" charset="0"/>
                <a:ea typeface="Calibri" pitchFamily="34" charset="-122"/>
                <a:cs typeface="Calibri" pitchFamily="34" charset="-120"/>
              </a:rPr>
              <a:t>DESCRIPTION</a:t>
            </a:r>
            <a:endParaRPr lang="en-US" sz="800" dirty="0"/>
          </a:p>
        </p:txBody>
      </p:sp>
      <p:sp>
        <p:nvSpPr>
          <p:cNvPr id="10" name="Text 8"/>
          <p:cNvSpPr/>
          <p:nvPr/>
        </p:nvSpPr>
        <p:spPr>
          <a:xfrm>
            <a:off x="7662672" y="1042416"/>
            <a:ext cx="1115568" cy="274320"/>
          </a:xfrm>
          <a:prstGeom prst="rect">
            <a:avLst/>
          </a:prstGeom>
          <a:noFill/>
          <a:ln/>
        </p:spPr>
        <p:txBody>
          <a:bodyPr wrap="square" lIns="0" tIns="0" rIns="0" bIns="0" rtlCol="0" anchor="ctr"/>
          <a:lstStyle/>
          <a:p>
            <a:pPr algn="l" indent="0" marL="0">
              <a:buNone/>
            </a:pPr>
            <a:r>
              <a:rPr lang="en-US" sz="800" b="1" spc="100" kern="0" dirty="0">
                <a:solidFill>
                  <a:srgbClr val="FFFFFF"/>
                </a:solidFill>
                <a:latin typeface="Calibri" pitchFamily="34" charset="0"/>
                <a:ea typeface="Calibri" pitchFamily="34" charset="-122"/>
                <a:cs typeface="Calibri" pitchFamily="34" charset="-120"/>
              </a:rPr>
              <a:t>STATUS</a:t>
            </a:r>
            <a:endParaRPr lang="en-US" sz="800" dirty="0"/>
          </a:p>
        </p:txBody>
      </p:sp>
      <p:sp>
        <p:nvSpPr>
          <p:cNvPr id="11" name="Shape 9"/>
          <p:cNvSpPr/>
          <p:nvPr/>
        </p:nvSpPr>
        <p:spPr>
          <a:xfrm>
            <a:off x="365760" y="1316736"/>
            <a:ext cx="8412480" cy="493776"/>
          </a:xfrm>
          <a:prstGeom prst="rect">
            <a:avLst/>
          </a:prstGeom>
          <a:solidFill>
            <a:srgbClr val="F9FAFB"/>
          </a:solidFill>
          <a:ln w="12700">
            <a:solidFill>
              <a:srgbClr val="EEEEEE"/>
            </a:solidFill>
            <a:prstDash val="solid"/>
          </a:ln>
        </p:spPr>
      </p:sp>
      <p:sp>
        <p:nvSpPr>
          <p:cNvPr id="12" name="Shape 10"/>
          <p:cNvSpPr/>
          <p:nvPr/>
        </p:nvSpPr>
        <p:spPr>
          <a:xfrm>
            <a:off x="365760" y="1316736"/>
            <a:ext cx="36576" cy="493776"/>
          </a:xfrm>
          <a:prstGeom prst="rect">
            <a:avLst/>
          </a:prstGeom>
          <a:solidFill>
            <a:srgbClr val="9CA3AF"/>
          </a:solidFill>
          <a:ln w="12700">
            <a:solidFill>
              <a:srgbClr val="9CA3AF"/>
            </a:solidFill>
            <a:prstDash val="solid"/>
          </a:ln>
        </p:spPr>
      </p:sp>
      <p:sp>
        <p:nvSpPr>
          <p:cNvPr id="13" name="Text 11"/>
          <p:cNvSpPr/>
          <p:nvPr/>
        </p:nvSpPr>
        <p:spPr>
          <a:xfrm>
            <a:off x="457200" y="1362456"/>
            <a:ext cx="1810512" cy="402336"/>
          </a:xfrm>
          <a:prstGeom prst="rect">
            <a:avLst/>
          </a:prstGeom>
          <a:noFill/>
          <a:ln/>
        </p:spPr>
        <p:txBody>
          <a:bodyPr wrap="square" lIns="0" tIns="0" rIns="0" bIns="0" rtlCol="0" anchor="ctr"/>
          <a:lstStyle/>
          <a:p>
            <a:pPr algn="l" indent="0" marL="0">
              <a:buNone/>
            </a:pPr>
            <a:r>
              <a:rPr lang="en-US" sz="850" b="1" dirty="0">
                <a:solidFill>
                  <a:srgbClr val="555555"/>
                </a:solidFill>
                <a:latin typeface="Calibri" pitchFamily="34" charset="0"/>
                <a:ea typeface="Calibri" pitchFamily="34" charset="-122"/>
                <a:cs typeface="Calibri" pitchFamily="34" charset="-120"/>
              </a:rPr>
              <a:t>Universal Agent</a:t>
            </a:r>
            <a:endParaRPr lang="en-US" sz="850" dirty="0"/>
          </a:p>
        </p:txBody>
      </p:sp>
      <p:sp>
        <p:nvSpPr>
          <p:cNvPr id="14" name="Text 12"/>
          <p:cNvSpPr/>
          <p:nvPr/>
        </p:nvSpPr>
        <p:spPr>
          <a:xfrm>
            <a:off x="2377440" y="1362456"/>
            <a:ext cx="5285232" cy="402336"/>
          </a:xfrm>
          <a:prstGeom prst="rect">
            <a:avLst/>
          </a:prstGeom>
          <a:noFill/>
          <a:ln/>
        </p:spPr>
        <p:txBody>
          <a:bodyPr wrap="square" lIns="0" tIns="0" rIns="0" bIns="0" rtlCol="0" anchor="ctr"/>
          <a:lstStyle/>
          <a:p>
            <a:pPr algn="l" indent="0" marL="0">
              <a:buNone/>
            </a:pPr>
            <a:r>
              <a:rPr lang="en-US" sz="900" dirty="0">
                <a:solidFill>
                  <a:srgbClr val="555555"/>
                </a:solidFill>
                <a:latin typeface="Calibri" pitchFamily="34" charset="0"/>
                <a:ea typeface="Calibri" pitchFamily="34" charset="-122"/>
                <a:cs typeface="Calibri" pitchFamily="34" charset="-120"/>
              </a:rPr>
              <a:t>Combines multiple agents into one interface. Ask one question — get answers from multiple data domains (e.g. Policy, Claims, Finance) in a single response.</a:t>
            </a:r>
            <a:endParaRPr lang="en-US" sz="900" dirty="0"/>
          </a:p>
        </p:txBody>
      </p:sp>
      <p:sp>
        <p:nvSpPr>
          <p:cNvPr id="15" name="Shape 13"/>
          <p:cNvSpPr/>
          <p:nvPr/>
        </p:nvSpPr>
        <p:spPr>
          <a:xfrm>
            <a:off x="7754112" y="1453896"/>
            <a:ext cx="914400" cy="219456"/>
          </a:xfrm>
          <a:prstGeom prst="rect">
            <a:avLst/>
          </a:prstGeom>
          <a:solidFill>
            <a:srgbClr val="F3F4F6"/>
          </a:solidFill>
          <a:ln w="12700">
            <a:solidFill>
              <a:srgbClr val="D1D5DB"/>
            </a:solidFill>
            <a:prstDash val="solid"/>
          </a:ln>
        </p:spPr>
      </p:sp>
      <p:sp>
        <p:nvSpPr>
          <p:cNvPr id="16" name="Text 14"/>
          <p:cNvSpPr/>
          <p:nvPr/>
        </p:nvSpPr>
        <p:spPr>
          <a:xfrm>
            <a:off x="7754112" y="1453896"/>
            <a:ext cx="914400" cy="219456"/>
          </a:xfrm>
          <a:prstGeom prst="rect">
            <a:avLst/>
          </a:prstGeom>
          <a:noFill/>
          <a:ln/>
        </p:spPr>
        <p:txBody>
          <a:bodyPr wrap="square" lIns="0" tIns="0" rIns="0" bIns="0" rtlCol="0" anchor="ctr"/>
          <a:lstStyle/>
          <a:p>
            <a:pPr algn="ctr" indent="0" marL="0">
              <a:buNone/>
            </a:pPr>
            <a:r>
              <a:rPr lang="en-US" sz="750" b="1" dirty="0">
                <a:solidFill>
                  <a:srgbClr val="6B7280"/>
                </a:solidFill>
                <a:latin typeface="Calibri" pitchFamily="34" charset="0"/>
                <a:ea typeface="Calibri" pitchFamily="34" charset="-122"/>
                <a:cs typeface="Calibri" pitchFamily="34" charset="-120"/>
              </a:rPr>
              <a:t>Not Tested</a:t>
            </a:r>
            <a:endParaRPr lang="en-US" sz="750" dirty="0"/>
          </a:p>
        </p:txBody>
      </p:sp>
      <p:sp>
        <p:nvSpPr>
          <p:cNvPr id="17" name="Shape 15"/>
          <p:cNvSpPr/>
          <p:nvPr/>
        </p:nvSpPr>
        <p:spPr>
          <a:xfrm>
            <a:off x="365760" y="1810512"/>
            <a:ext cx="8412480" cy="493776"/>
          </a:xfrm>
          <a:prstGeom prst="rect">
            <a:avLst/>
          </a:prstGeom>
          <a:solidFill>
            <a:srgbClr val="FFFFFF"/>
          </a:solidFill>
          <a:ln w="12700">
            <a:solidFill>
              <a:srgbClr val="EEEEEE"/>
            </a:solidFill>
            <a:prstDash val="solid"/>
          </a:ln>
        </p:spPr>
      </p:sp>
      <p:sp>
        <p:nvSpPr>
          <p:cNvPr id="18" name="Shape 16"/>
          <p:cNvSpPr/>
          <p:nvPr/>
        </p:nvSpPr>
        <p:spPr>
          <a:xfrm>
            <a:off x="365760" y="1810512"/>
            <a:ext cx="36576" cy="493776"/>
          </a:xfrm>
          <a:prstGeom prst="rect">
            <a:avLst/>
          </a:prstGeom>
          <a:solidFill>
            <a:srgbClr val="9CA3AF"/>
          </a:solidFill>
          <a:ln w="12700">
            <a:solidFill>
              <a:srgbClr val="9CA3AF"/>
            </a:solidFill>
            <a:prstDash val="solid"/>
          </a:ln>
        </p:spPr>
      </p:sp>
      <p:sp>
        <p:nvSpPr>
          <p:cNvPr id="19" name="Text 17"/>
          <p:cNvSpPr/>
          <p:nvPr/>
        </p:nvSpPr>
        <p:spPr>
          <a:xfrm>
            <a:off x="457200" y="1856232"/>
            <a:ext cx="1810512" cy="402336"/>
          </a:xfrm>
          <a:prstGeom prst="rect">
            <a:avLst/>
          </a:prstGeom>
          <a:noFill/>
          <a:ln/>
        </p:spPr>
        <p:txBody>
          <a:bodyPr wrap="square" lIns="0" tIns="0" rIns="0" bIns="0" rtlCol="0" anchor="ctr"/>
          <a:lstStyle/>
          <a:p>
            <a:pPr algn="l" indent="0" marL="0">
              <a:buNone/>
            </a:pPr>
            <a:r>
              <a:rPr lang="en-US" sz="850" b="1" dirty="0">
                <a:solidFill>
                  <a:srgbClr val="555555"/>
                </a:solidFill>
                <a:latin typeface="Calibri" pitchFamily="34" charset="0"/>
                <a:ea typeface="Calibri" pitchFamily="34" charset="-122"/>
                <a:cs typeface="Calibri" pitchFamily="34" charset="-120"/>
              </a:rPr>
              <a:t>Agent via MCP Server</a:t>
            </a:r>
            <a:endParaRPr lang="en-US" sz="850" dirty="0"/>
          </a:p>
        </p:txBody>
      </p:sp>
      <p:sp>
        <p:nvSpPr>
          <p:cNvPr id="20" name="Text 18"/>
          <p:cNvSpPr/>
          <p:nvPr/>
        </p:nvSpPr>
        <p:spPr>
          <a:xfrm>
            <a:off x="2377440" y="1856232"/>
            <a:ext cx="5285232" cy="402336"/>
          </a:xfrm>
          <a:prstGeom prst="rect">
            <a:avLst/>
          </a:prstGeom>
          <a:noFill/>
          <a:ln/>
        </p:spPr>
        <p:txBody>
          <a:bodyPr wrap="square" lIns="0" tIns="0" rIns="0" bIns="0" rtlCol="0" anchor="ctr"/>
          <a:lstStyle/>
          <a:p>
            <a:pPr algn="l" indent="0" marL="0">
              <a:buNone/>
            </a:pPr>
            <a:r>
              <a:rPr lang="en-US" sz="900" dirty="0">
                <a:solidFill>
                  <a:srgbClr val="555555"/>
                </a:solidFill>
                <a:latin typeface="Calibri" pitchFamily="34" charset="0"/>
                <a:ea typeface="Calibri" pitchFamily="34" charset="-122"/>
                <a:cs typeface="Calibri" pitchFamily="34" charset="-120"/>
              </a:rPr>
              <a:t>Exposes MSTR agents to external AI tools like Claude, Copilot, and ChatGPT via Model Context Protocol. Query your MSTR data from those tools directly.</a:t>
            </a:r>
            <a:endParaRPr lang="en-US" sz="900" dirty="0"/>
          </a:p>
        </p:txBody>
      </p:sp>
      <p:sp>
        <p:nvSpPr>
          <p:cNvPr id="21" name="Shape 19"/>
          <p:cNvSpPr/>
          <p:nvPr/>
        </p:nvSpPr>
        <p:spPr>
          <a:xfrm>
            <a:off x="7754112" y="1947672"/>
            <a:ext cx="914400" cy="219456"/>
          </a:xfrm>
          <a:prstGeom prst="rect">
            <a:avLst/>
          </a:prstGeom>
          <a:solidFill>
            <a:srgbClr val="F3F4F6"/>
          </a:solidFill>
          <a:ln w="12700">
            <a:solidFill>
              <a:srgbClr val="D1D5DB"/>
            </a:solidFill>
            <a:prstDash val="solid"/>
          </a:ln>
        </p:spPr>
      </p:sp>
      <p:sp>
        <p:nvSpPr>
          <p:cNvPr id="22" name="Text 20"/>
          <p:cNvSpPr/>
          <p:nvPr/>
        </p:nvSpPr>
        <p:spPr>
          <a:xfrm>
            <a:off x="7754112" y="1947672"/>
            <a:ext cx="914400" cy="219456"/>
          </a:xfrm>
          <a:prstGeom prst="rect">
            <a:avLst/>
          </a:prstGeom>
          <a:noFill/>
          <a:ln/>
        </p:spPr>
        <p:txBody>
          <a:bodyPr wrap="square" lIns="0" tIns="0" rIns="0" bIns="0" rtlCol="0" anchor="ctr"/>
          <a:lstStyle/>
          <a:p>
            <a:pPr algn="ctr" indent="0" marL="0">
              <a:buNone/>
            </a:pPr>
            <a:r>
              <a:rPr lang="en-US" sz="750" b="1" dirty="0">
                <a:solidFill>
                  <a:srgbClr val="6B7280"/>
                </a:solidFill>
                <a:latin typeface="Calibri" pitchFamily="34" charset="0"/>
                <a:ea typeface="Calibri" pitchFamily="34" charset="-122"/>
                <a:cs typeface="Calibri" pitchFamily="34" charset="-120"/>
              </a:rPr>
              <a:t>Not Tested</a:t>
            </a:r>
            <a:endParaRPr lang="en-US" sz="750" dirty="0"/>
          </a:p>
        </p:txBody>
      </p:sp>
      <p:sp>
        <p:nvSpPr>
          <p:cNvPr id="23" name="Shape 21"/>
          <p:cNvSpPr/>
          <p:nvPr/>
        </p:nvSpPr>
        <p:spPr>
          <a:xfrm>
            <a:off x="365760" y="2304288"/>
            <a:ext cx="8412480" cy="493776"/>
          </a:xfrm>
          <a:prstGeom prst="rect">
            <a:avLst/>
          </a:prstGeom>
          <a:solidFill>
            <a:srgbClr val="F9FAFB"/>
          </a:solidFill>
          <a:ln w="12700">
            <a:solidFill>
              <a:srgbClr val="EEEEEE"/>
            </a:solidFill>
            <a:prstDash val="solid"/>
          </a:ln>
        </p:spPr>
      </p:sp>
      <p:sp>
        <p:nvSpPr>
          <p:cNvPr id="24" name="Shape 22"/>
          <p:cNvSpPr/>
          <p:nvPr/>
        </p:nvSpPr>
        <p:spPr>
          <a:xfrm>
            <a:off x="365760" y="2304288"/>
            <a:ext cx="36576" cy="493776"/>
          </a:xfrm>
          <a:prstGeom prst="rect">
            <a:avLst/>
          </a:prstGeom>
          <a:solidFill>
            <a:srgbClr val="9CA3AF"/>
          </a:solidFill>
          <a:ln w="12700">
            <a:solidFill>
              <a:srgbClr val="9CA3AF"/>
            </a:solidFill>
            <a:prstDash val="solid"/>
          </a:ln>
        </p:spPr>
      </p:sp>
      <p:sp>
        <p:nvSpPr>
          <p:cNvPr id="25" name="Text 23"/>
          <p:cNvSpPr/>
          <p:nvPr/>
        </p:nvSpPr>
        <p:spPr>
          <a:xfrm>
            <a:off x="457200" y="2350008"/>
            <a:ext cx="1810512" cy="402336"/>
          </a:xfrm>
          <a:prstGeom prst="rect">
            <a:avLst/>
          </a:prstGeom>
          <a:noFill/>
          <a:ln/>
        </p:spPr>
        <p:txBody>
          <a:bodyPr wrap="square" lIns="0" tIns="0" rIns="0" bIns="0" rtlCol="0" anchor="ctr"/>
          <a:lstStyle/>
          <a:p>
            <a:pPr algn="l" indent="0" marL="0">
              <a:buNone/>
            </a:pPr>
            <a:r>
              <a:rPr lang="en-US" sz="850" b="1" dirty="0">
                <a:solidFill>
                  <a:srgbClr val="555555"/>
                </a:solidFill>
                <a:latin typeface="Calibri" pitchFamily="34" charset="0"/>
                <a:ea typeface="Calibri" pitchFamily="34" charset="-122"/>
                <a:cs typeface="Calibri" pitchFamily="34" charset="-120"/>
              </a:rPr>
              <a:t>Agent in Microsoft Teams</a:t>
            </a:r>
            <a:endParaRPr lang="en-US" sz="850" dirty="0"/>
          </a:p>
        </p:txBody>
      </p:sp>
      <p:sp>
        <p:nvSpPr>
          <p:cNvPr id="26" name="Text 24"/>
          <p:cNvSpPr/>
          <p:nvPr/>
        </p:nvSpPr>
        <p:spPr>
          <a:xfrm>
            <a:off x="2377440" y="2350008"/>
            <a:ext cx="5285232" cy="402336"/>
          </a:xfrm>
          <a:prstGeom prst="rect">
            <a:avLst/>
          </a:prstGeom>
          <a:noFill/>
          <a:ln/>
        </p:spPr>
        <p:txBody>
          <a:bodyPr wrap="square" lIns="0" tIns="0" rIns="0" bIns="0" rtlCol="0" anchor="ctr"/>
          <a:lstStyle/>
          <a:p>
            <a:pPr algn="l" indent="0" marL="0">
              <a:buNone/>
            </a:pPr>
            <a:r>
              <a:rPr lang="en-US" sz="900" dirty="0">
                <a:solidFill>
                  <a:srgbClr val="555555"/>
                </a:solidFill>
                <a:latin typeface="Calibri" pitchFamily="34" charset="0"/>
                <a:ea typeface="Calibri" pitchFamily="34" charset="-122"/>
                <a:cs typeface="Calibri" pitchFamily="34" charset="-120"/>
              </a:rPr>
              <a:t>Embed an MSTR agent inside Teams. Business users can ask data questions without leaving their daily collaboration tool.</a:t>
            </a:r>
            <a:endParaRPr lang="en-US" sz="900" dirty="0"/>
          </a:p>
        </p:txBody>
      </p:sp>
      <p:sp>
        <p:nvSpPr>
          <p:cNvPr id="27" name="Shape 25"/>
          <p:cNvSpPr/>
          <p:nvPr/>
        </p:nvSpPr>
        <p:spPr>
          <a:xfrm>
            <a:off x="7754112" y="2441448"/>
            <a:ext cx="914400" cy="219456"/>
          </a:xfrm>
          <a:prstGeom prst="rect">
            <a:avLst/>
          </a:prstGeom>
          <a:solidFill>
            <a:srgbClr val="F3F4F6"/>
          </a:solidFill>
          <a:ln w="12700">
            <a:solidFill>
              <a:srgbClr val="D1D5DB"/>
            </a:solidFill>
            <a:prstDash val="solid"/>
          </a:ln>
        </p:spPr>
      </p:sp>
      <p:sp>
        <p:nvSpPr>
          <p:cNvPr id="28" name="Text 26"/>
          <p:cNvSpPr/>
          <p:nvPr/>
        </p:nvSpPr>
        <p:spPr>
          <a:xfrm>
            <a:off x="7754112" y="2441448"/>
            <a:ext cx="914400" cy="219456"/>
          </a:xfrm>
          <a:prstGeom prst="rect">
            <a:avLst/>
          </a:prstGeom>
          <a:noFill/>
          <a:ln/>
        </p:spPr>
        <p:txBody>
          <a:bodyPr wrap="square" lIns="0" tIns="0" rIns="0" bIns="0" rtlCol="0" anchor="ctr"/>
          <a:lstStyle/>
          <a:p>
            <a:pPr algn="ctr" indent="0" marL="0">
              <a:buNone/>
            </a:pPr>
            <a:r>
              <a:rPr lang="en-US" sz="750" b="1" dirty="0">
                <a:solidFill>
                  <a:srgbClr val="6B7280"/>
                </a:solidFill>
                <a:latin typeface="Calibri" pitchFamily="34" charset="0"/>
                <a:ea typeface="Calibri" pitchFamily="34" charset="-122"/>
                <a:cs typeface="Calibri" pitchFamily="34" charset="-120"/>
              </a:rPr>
              <a:t>Not Tested</a:t>
            </a:r>
            <a:endParaRPr lang="en-US" sz="750" dirty="0"/>
          </a:p>
        </p:txBody>
      </p:sp>
      <p:sp>
        <p:nvSpPr>
          <p:cNvPr id="29" name="Shape 27"/>
          <p:cNvSpPr/>
          <p:nvPr/>
        </p:nvSpPr>
        <p:spPr>
          <a:xfrm>
            <a:off x="365760" y="2798064"/>
            <a:ext cx="8412480" cy="493776"/>
          </a:xfrm>
          <a:prstGeom prst="rect">
            <a:avLst/>
          </a:prstGeom>
          <a:solidFill>
            <a:srgbClr val="FFFFFF"/>
          </a:solidFill>
          <a:ln w="12700">
            <a:solidFill>
              <a:srgbClr val="EEEEEE"/>
            </a:solidFill>
            <a:prstDash val="solid"/>
          </a:ln>
        </p:spPr>
      </p:sp>
      <p:sp>
        <p:nvSpPr>
          <p:cNvPr id="30" name="Shape 28"/>
          <p:cNvSpPr/>
          <p:nvPr/>
        </p:nvSpPr>
        <p:spPr>
          <a:xfrm>
            <a:off x="365760" y="2798064"/>
            <a:ext cx="36576" cy="493776"/>
          </a:xfrm>
          <a:prstGeom prst="rect">
            <a:avLst/>
          </a:prstGeom>
          <a:solidFill>
            <a:srgbClr val="9CA3AF"/>
          </a:solidFill>
          <a:ln w="12700">
            <a:solidFill>
              <a:srgbClr val="9CA3AF"/>
            </a:solidFill>
            <a:prstDash val="solid"/>
          </a:ln>
        </p:spPr>
      </p:sp>
      <p:sp>
        <p:nvSpPr>
          <p:cNvPr id="31" name="Text 29"/>
          <p:cNvSpPr/>
          <p:nvPr/>
        </p:nvSpPr>
        <p:spPr>
          <a:xfrm>
            <a:off x="457200" y="2843784"/>
            <a:ext cx="1810512" cy="402336"/>
          </a:xfrm>
          <a:prstGeom prst="rect">
            <a:avLst/>
          </a:prstGeom>
          <a:noFill/>
          <a:ln/>
        </p:spPr>
        <p:txBody>
          <a:bodyPr wrap="square" lIns="0" tIns="0" rIns="0" bIns="0" rtlCol="0" anchor="ctr"/>
          <a:lstStyle/>
          <a:p>
            <a:pPr algn="l" indent="0" marL="0">
              <a:buNone/>
            </a:pPr>
            <a:r>
              <a:rPr lang="en-US" sz="850" b="1" dirty="0">
                <a:solidFill>
                  <a:srgbClr val="555555"/>
                </a:solidFill>
                <a:latin typeface="Calibri" pitchFamily="34" charset="0"/>
                <a:ea typeface="Calibri" pitchFamily="34" charset="-122"/>
                <a:cs typeface="Calibri" pitchFamily="34" charset="-120"/>
              </a:rPr>
              <a:t>Agent in External Apps</a:t>
            </a:r>
            <a:endParaRPr lang="en-US" sz="850" dirty="0"/>
          </a:p>
          <a:p>
            <a:pPr algn="l" indent="0" marL="0">
              <a:buNone/>
            </a:pPr>
            <a:r>
              <a:rPr lang="en-US" sz="850" b="1" dirty="0">
                <a:solidFill>
                  <a:srgbClr val="555555"/>
                </a:solidFill>
                <a:latin typeface="Calibri" pitchFamily="34" charset="0"/>
                <a:ea typeface="Calibri" pitchFamily="34" charset="-122"/>
                <a:cs typeface="Calibri" pitchFamily="34" charset="-120"/>
              </a:rPr>
              <a:t>(Salesforce, web portals, etc.)</a:t>
            </a:r>
            <a:endParaRPr lang="en-US" sz="850" dirty="0"/>
          </a:p>
        </p:txBody>
      </p:sp>
      <p:sp>
        <p:nvSpPr>
          <p:cNvPr id="32" name="Text 30"/>
          <p:cNvSpPr/>
          <p:nvPr/>
        </p:nvSpPr>
        <p:spPr>
          <a:xfrm>
            <a:off x="2377440" y="2843784"/>
            <a:ext cx="5285232" cy="402336"/>
          </a:xfrm>
          <a:prstGeom prst="rect">
            <a:avLst/>
          </a:prstGeom>
          <a:noFill/>
          <a:ln/>
        </p:spPr>
        <p:txBody>
          <a:bodyPr wrap="square" lIns="0" tIns="0" rIns="0" bIns="0" rtlCol="0" anchor="ctr"/>
          <a:lstStyle/>
          <a:p>
            <a:pPr algn="l" indent="0" marL="0">
              <a:buNone/>
            </a:pPr>
            <a:r>
              <a:rPr lang="en-US" sz="900" dirty="0">
                <a:solidFill>
                  <a:srgbClr val="555555"/>
                </a:solidFill>
                <a:latin typeface="Calibri" pitchFamily="34" charset="0"/>
                <a:ea typeface="Calibri" pitchFamily="34" charset="-122"/>
                <a:cs typeface="Calibri" pitchFamily="34" charset="-120"/>
              </a:rPr>
              <a:t>Embed agents in CRM or web portals so frontline users get data answers in the context of their own workflow — no BI tool access required.</a:t>
            </a:r>
            <a:endParaRPr lang="en-US" sz="900" dirty="0"/>
          </a:p>
        </p:txBody>
      </p:sp>
      <p:sp>
        <p:nvSpPr>
          <p:cNvPr id="33" name="Shape 31"/>
          <p:cNvSpPr/>
          <p:nvPr/>
        </p:nvSpPr>
        <p:spPr>
          <a:xfrm>
            <a:off x="7754112" y="2935224"/>
            <a:ext cx="914400" cy="219456"/>
          </a:xfrm>
          <a:prstGeom prst="rect">
            <a:avLst/>
          </a:prstGeom>
          <a:solidFill>
            <a:srgbClr val="F3F4F6"/>
          </a:solidFill>
          <a:ln w="12700">
            <a:solidFill>
              <a:srgbClr val="D1D5DB"/>
            </a:solidFill>
            <a:prstDash val="solid"/>
          </a:ln>
        </p:spPr>
      </p:sp>
      <p:sp>
        <p:nvSpPr>
          <p:cNvPr id="34" name="Text 32"/>
          <p:cNvSpPr/>
          <p:nvPr/>
        </p:nvSpPr>
        <p:spPr>
          <a:xfrm>
            <a:off x="7754112" y="2935224"/>
            <a:ext cx="914400" cy="219456"/>
          </a:xfrm>
          <a:prstGeom prst="rect">
            <a:avLst/>
          </a:prstGeom>
          <a:noFill/>
          <a:ln/>
        </p:spPr>
        <p:txBody>
          <a:bodyPr wrap="square" lIns="0" tIns="0" rIns="0" bIns="0" rtlCol="0" anchor="ctr"/>
          <a:lstStyle/>
          <a:p>
            <a:pPr algn="ctr" indent="0" marL="0">
              <a:buNone/>
            </a:pPr>
            <a:r>
              <a:rPr lang="en-US" sz="750" b="1" dirty="0">
                <a:solidFill>
                  <a:srgbClr val="6B7280"/>
                </a:solidFill>
                <a:latin typeface="Calibri" pitchFamily="34" charset="0"/>
                <a:ea typeface="Calibri" pitchFamily="34" charset="-122"/>
                <a:cs typeface="Calibri" pitchFamily="34" charset="-120"/>
              </a:rPr>
              <a:t>Not Tested</a:t>
            </a:r>
            <a:endParaRPr lang="en-US" sz="750" dirty="0"/>
          </a:p>
        </p:txBody>
      </p:sp>
      <p:sp>
        <p:nvSpPr>
          <p:cNvPr id="35" name="Shape 33"/>
          <p:cNvSpPr/>
          <p:nvPr/>
        </p:nvSpPr>
        <p:spPr>
          <a:xfrm>
            <a:off x="365760" y="3291840"/>
            <a:ext cx="8412480" cy="493776"/>
          </a:xfrm>
          <a:prstGeom prst="rect">
            <a:avLst/>
          </a:prstGeom>
          <a:solidFill>
            <a:srgbClr val="F9FAFB"/>
          </a:solidFill>
          <a:ln w="12700">
            <a:solidFill>
              <a:srgbClr val="EEEEEE"/>
            </a:solidFill>
            <a:prstDash val="solid"/>
          </a:ln>
        </p:spPr>
      </p:sp>
      <p:sp>
        <p:nvSpPr>
          <p:cNvPr id="36" name="Shape 34"/>
          <p:cNvSpPr/>
          <p:nvPr/>
        </p:nvSpPr>
        <p:spPr>
          <a:xfrm>
            <a:off x="365760" y="3291840"/>
            <a:ext cx="36576" cy="493776"/>
          </a:xfrm>
          <a:prstGeom prst="rect">
            <a:avLst/>
          </a:prstGeom>
          <a:solidFill>
            <a:srgbClr val="9CA3AF"/>
          </a:solidFill>
          <a:ln w="12700">
            <a:solidFill>
              <a:srgbClr val="9CA3AF"/>
            </a:solidFill>
            <a:prstDash val="solid"/>
          </a:ln>
        </p:spPr>
      </p:sp>
      <p:sp>
        <p:nvSpPr>
          <p:cNvPr id="37" name="Text 35"/>
          <p:cNvSpPr/>
          <p:nvPr/>
        </p:nvSpPr>
        <p:spPr>
          <a:xfrm>
            <a:off x="457200" y="3337560"/>
            <a:ext cx="1810512" cy="402336"/>
          </a:xfrm>
          <a:prstGeom prst="rect">
            <a:avLst/>
          </a:prstGeom>
          <a:noFill/>
          <a:ln/>
        </p:spPr>
        <p:txBody>
          <a:bodyPr wrap="square" lIns="0" tIns="0" rIns="0" bIns="0" rtlCol="0" anchor="ctr"/>
          <a:lstStyle/>
          <a:p>
            <a:pPr algn="l" indent="0" marL="0">
              <a:buNone/>
            </a:pPr>
            <a:r>
              <a:rPr lang="en-US" sz="850" b="1" dirty="0">
                <a:solidFill>
                  <a:srgbClr val="555555"/>
                </a:solidFill>
                <a:latin typeface="Calibri" pitchFamily="34" charset="0"/>
                <a:ea typeface="Calibri" pitchFamily="34" charset="-122"/>
                <a:cs typeface="Calibri" pitchFamily="34" charset="-120"/>
              </a:rPr>
              <a:t>Unstructured Data Agent</a:t>
            </a:r>
            <a:endParaRPr lang="en-US" sz="850" dirty="0"/>
          </a:p>
        </p:txBody>
      </p:sp>
      <p:sp>
        <p:nvSpPr>
          <p:cNvPr id="38" name="Text 36"/>
          <p:cNvSpPr/>
          <p:nvPr/>
        </p:nvSpPr>
        <p:spPr>
          <a:xfrm>
            <a:off x="2377440" y="3337560"/>
            <a:ext cx="5285232" cy="402336"/>
          </a:xfrm>
          <a:prstGeom prst="rect">
            <a:avLst/>
          </a:prstGeom>
          <a:noFill/>
          <a:ln/>
        </p:spPr>
        <p:txBody>
          <a:bodyPr wrap="square" lIns="0" tIns="0" rIns="0" bIns="0" rtlCol="0" anchor="ctr"/>
          <a:lstStyle/>
          <a:p>
            <a:pPr algn="l" indent="0" marL="0">
              <a:buNone/>
            </a:pPr>
            <a:r>
              <a:rPr lang="en-US" sz="900" dirty="0">
                <a:solidFill>
                  <a:srgbClr val="555555"/>
                </a:solidFill>
                <a:latin typeface="Calibri" pitchFamily="34" charset="0"/>
                <a:ea typeface="Calibri" pitchFamily="34" charset="-122"/>
                <a:cs typeface="Calibri" pitchFamily="34" charset="-120"/>
              </a:rPr>
              <a:t>Agent answers questions across PDFs, Word docs, and policy documents alongside structured data. Useful for compliance, legal, and contract queries.</a:t>
            </a:r>
            <a:endParaRPr lang="en-US" sz="900" dirty="0"/>
          </a:p>
        </p:txBody>
      </p:sp>
      <p:sp>
        <p:nvSpPr>
          <p:cNvPr id="39" name="Shape 37"/>
          <p:cNvSpPr/>
          <p:nvPr/>
        </p:nvSpPr>
        <p:spPr>
          <a:xfrm>
            <a:off x="7754112" y="3429000"/>
            <a:ext cx="914400" cy="219456"/>
          </a:xfrm>
          <a:prstGeom prst="rect">
            <a:avLst/>
          </a:prstGeom>
          <a:solidFill>
            <a:srgbClr val="F3F4F6"/>
          </a:solidFill>
          <a:ln w="12700">
            <a:solidFill>
              <a:srgbClr val="D1D5DB"/>
            </a:solidFill>
            <a:prstDash val="solid"/>
          </a:ln>
        </p:spPr>
      </p:sp>
      <p:sp>
        <p:nvSpPr>
          <p:cNvPr id="40" name="Text 38"/>
          <p:cNvSpPr/>
          <p:nvPr/>
        </p:nvSpPr>
        <p:spPr>
          <a:xfrm>
            <a:off x="7754112" y="3429000"/>
            <a:ext cx="914400" cy="219456"/>
          </a:xfrm>
          <a:prstGeom prst="rect">
            <a:avLst/>
          </a:prstGeom>
          <a:noFill/>
          <a:ln/>
        </p:spPr>
        <p:txBody>
          <a:bodyPr wrap="square" lIns="0" tIns="0" rIns="0" bIns="0" rtlCol="0" anchor="ctr"/>
          <a:lstStyle/>
          <a:p>
            <a:pPr algn="ctr" indent="0" marL="0">
              <a:buNone/>
            </a:pPr>
            <a:r>
              <a:rPr lang="en-US" sz="750" b="1" dirty="0">
                <a:solidFill>
                  <a:srgbClr val="6B7280"/>
                </a:solidFill>
                <a:latin typeface="Calibri" pitchFamily="34" charset="0"/>
                <a:ea typeface="Calibri" pitchFamily="34" charset="-122"/>
                <a:cs typeface="Calibri" pitchFamily="34" charset="-120"/>
              </a:rPr>
              <a:t>Not Tested</a:t>
            </a:r>
            <a:endParaRPr lang="en-US" sz="750" dirty="0"/>
          </a:p>
        </p:txBody>
      </p:sp>
      <p:sp>
        <p:nvSpPr>
          <p:cNvPr id="41" name="Shape 39"/>
          <p:cNvSpPr/>
          <p:nvPr/>
        </p:nvSpPr>
        <p:spPr>
          <a:xfrm>
            <a:off x="365760" y="3785616"/>
            <a:ext cx="8412480" cy="493776"/>
          </a:xfrm>
          <a:prstGeom prst="rect">
            <a:avLst/>
          </a:prstGeom>
          <a:solidFill>
            <a:srgbClr val="FFFFFF"/>
          </a:solidFill>
          <a:ln w="12700">
            <a:solidFill>
              <a:srgbClr val="EEEEEE"/>
            </a:solidFill>
            <a:prstDash val="solid"/>
          </a:ln>
        </p:spPr>
      </p:sp>
      <p:sp>
        <p:nvSpPr>
          <p:cNvPr id="42" name="Shape 40"/>
          <p:cNvSpPr/>
          <p:nvPr/>
        </p:nvSpPr>
        <p:spPr>
          <a:xfrm>
            <a:off x="365760" y="3785616"/>
            <a:ext cx="36576" cy="493776"/>
          </a:xfrm>
          <a:prstGeom prst="rect">
            <a:avLst/>
          </a:prstGeom>
          <a:solidFill>
            <a:srgbClr val="9CA3AF"/>
          </a:solidFill>
          <a:ln w="12700">
            <a:solidFill>
              <a:srgbClr val="9CA3AF"/>
            </a:solidFill>
            <a:prstDash val="solid"/>
          </a:ln>
        </p:spPr>
      </p:sp>
      <p:sp>
        <p:nvSpPr>
          <p:cNvPr id="43" name="Text 41"/>
          <p:cNvSpPr/>
          <p:nvPr/>
        </p:nvSpPr>
        <p:spPr>
          <a:xfrm>
            <a:off x="457200" y="3831336"/>
            <a:ext cx="1810512" cy="402336"/>
          </a:xfrm>
          <a:prstGeom prst="rect">
            <a:avLst/>
          </a:prstGeom>
          <a:noFill/>
          <a:ln/>
        </p:spPr>
        <p:txBody>
          <a:bodyPr wrap="square" lIns="0" tIns="0" rIns="0" bIns="0" rtlCol="0" anchor="ctr"/>
          <a:lstStyle/>
          <a:p>
            <a:pPr algn="l" indent="0" marL="0">
              <a:buNone/>
            </a:pPr>
            <a:r>
              <a:rPr lang="en-US" sz="850" b="1" dirty="0">
                <a:solidFill>
                  <a:srgbClr val="555555"/>
                </a:solidFill>
                <a:latin typeface="Calibri" pitchFamily="34" charset="0"/>
                <a:ea typeface="Calibri" pitchFamily="34" charset="-122"/>
                <a:cs typeface="Calibri" pitchFamily="34" charset="-120"/>
              </a:rPr>
              <a:t>Voice Agent</a:t>
            </a:r>
            <a:endParaRPr lang="en-US" sz="850" dirty="0"/>
          </a:p>
        </p:txBody>
      </p:sp>
      <p:sp>
        <p:nvSpPr>
          <p:cNvPr id="44" name="Text 42"/>
          <p:cNvSpPr/>
          <p:nvPr/>
        </p:nvSpPr>
        <p:spPr>
          <a:xfrm>
            <a:off x="2377440" y="3831336"/>
            <a:ext cx="5285232" cy="402336"/>
          </a:xfrm>
          <a:prstGeom prst="rect">
            <a:avLst/>
          </a:prstGeom>
          <a:noFill/>
          <a:ln/>
        </p:spPr>
        <p:txBody>
          <a:bodyPr wrap="square" lIns="0" tIns="0" rIns="0" bIns="0" rtlCol="0" anchor="ctr"/>
          <a:lstStyle/>
          <a:p>
            <a:pPr algn="l" indent="0" marL="0">
              <a:buNone/>
            </a:pPr>
            <a:r>
              <a:rPr lang="en-US" sz="900" dirty="0">
                <a:solidFill>
                  <a:srgbClr val="555555"/>
                </a:solidFill>
                <a:latin typeface="Calibri" pitchFamily="34" charset="0"/>
                <a:ea typeface="Calibri" pitchFamily="34" charset="-122"/>
                <a:cs typeface="Calibri" pitchFamily="34" charset="-120"/>
              </a:rPr>
              <a:t>Interact with MSTR agents using voice commands. Agent reads answers aloud. Available in Strategy ONE from late 2025.</a:t>
            </a:r>
            <a:endParaRPr lang="en-US" sz="900" dirty="0"/>
          </a:p>
        </p:txBody>
      </p:sp>
      <p:sp>
        <p:nvSpPr>
          <p:cNvPr id="45" name="Shape 43"/>
          <p:cNvSpPr/>
          <p:nvPr/>
        </p:nvSpPr>
        <p:spPr>
          <a:xfrm>
            <a:off x="7754112" y="3922776"/>
            <a:ext cx="914400" cy="219456"/>
          </a:xfrm>
          <a:prstGeom prst="rect">
            <a:avLst/>
          </a:prstGeom>
          <a:solidFill>
            <a:srgbClr val="F3F4F6"/>
          </a:solidFill>
          <a:ln w="12700">
            <a:solidFill>
              <a:srgbClr val="D1D5DB"/>
            </a:solidFill>
            <a:prstDash val="solid"/>
          </a:ln>
        </p:spPr>
      </p:sp>
      <p:sp>
        <p:nvSpPr>
          <p:cNvPr id="46" name="Text 44"/>
          <p:cNvSpPr/>
          <p:nvPr/>
        </p:nvSpPr>
        <p:spPr>
          <a:xfrm>
            <a:off x="7754112" y="3922776"/>
            <a:ext cx="914400" cy="219456"/>
          </a:xfrm>
          <a:prstGeom prst="rect">
            <a:avLst/>
          </a:prstGeom>
          <a:noFill/>
          <a:ln/>
        </p:spPr>
        <p:txBody>
          <a:bodyPr wrap="square" lIns="0" tIns="0" rIns="0" bIns="0" rtlCol="0" anchor="ctr"/>
          <a:lstStyle/>
          <a:p>
            <a:pPr algn="ctr" indent="0" marL="0">
              <a:buNone/>
            </a:pPr>
            <a:r>
              <a:rPr lang="en-US" sz="750" b="1" dirty="0">
                <a:solidFill>
                  <a:srgbClr val="6B7280"/>
                </a:solidFill>
                <a:latin typeface="Calibri" pitchFamily="34" charset="0"/>
                <a:ea typeface="Calibri" pitchFamily="34" charset="-122"/>
                <a:cs typeface="Calibri" pitchFamily="34" charset="-120"/>
              </a:rPr>
              <a:t>Not Tested</a:t>
            </a:r>
            <a:endParaRPr lang="en-US" sz="750" dirty="0"/>
          </a:p>
        </p:txBody>
      </p:sp>
      <p:sp>
        <p:nvSpPr>
          <p:cNvPr id="47" name="Shape 45"/>
          <p:cNvSpPr/>
          <p:nvPr/>
        </p:nvSpPr>
        <p:spPr>
          <a:xfrm>
            <a:off x="365760" y="4279392"/>
            <a:ext cx="8412480" cy="493776"/>
          </a:xfrm>
          <a:prstGeom prst="rect">
            <a:avLst/>
          </a:prstGeom>
          <a:solidFill>
            <a:srgbClr val="F9FAFB"/>
          </a:solidFill>
          <a:ln w="12700">
            <a:solidFill>
              <a:srgbClr val="EEEEEE"/>
            </a:solidFill>
            <a:prstDash val="solid"/>
          </a:ln>
        </p:spPr>
      </p:sp>
      <p:sp>
        <p:nvSpPr>
          <p:cNvPr id="48" name="Shape 46"/>
          <p:cNvSpPr/>
          <p:nvPr/>
        </p:nvSpPr>
        <p:spPr>
          <a:xfrm>
            <a:off x="365760" y="4279392"/>
            <a:ext cx="36576" cy="493776"/>
          </a:xfrm>
          <a:prstGeom prst="rect">
            <a:avLst/>
          </a:prstGeom>
          <a:solidFill>
            <a:srgbClr val="9CA3AF"/>
          </a:solidFill>
          <a:ln w="12700">
            <a:solidFill>
              <a:srgbClr val="9CA3AF"/>
            </a:solidFill>
            <a:prstDash val="solid"/>
          </a:ln>
        </p:spPr>
      </p:sp>
      <p:sp>
        <p:nvSpPr>
          <p:cNvPr id="49" name="Text 47"/>
          <p:cNvSpPr/>
          <p:nvPr/>
        </p:nvSpPr>
        <p:spPr>
          <a:xfrm>
            <a:off x="457200" y="4325112"/>
            <a:ext cx="1810512" cy="402336"/>
          </a:xfrm>
          <a:prstGeom prst="rect">
            <a:avLst/>
          </a:prstGeom>
          <a:noFill/>
          <a:ln/>
        </p:spPr>
        <p:txBody>
          <a:bodyPr wrap="square" lIns="0" tIns="0" rIns="0" bIns="0" rtlCol="0" anchor="ctr"/>
          <a:lstStyle/>
          <a:p>
            <a:pPr algn="l" indent="0" marL="0">
              <a:buNone/>
            </a:pPr>
            <a:r>
              <a:rPr lang="en-US" sz="850" b="1" dirty="0">
                <a:solidFill>
                  <a:srgbClr val="555555"/>
                </a:solidFill>
                <a:latin typeface="Calibri" pitchFamily="34" charset="0"/>
                <a:ea typeface="Calibri" pitchFamily="34" charset="-122"/>
                <a:cs typeface="Calibri" pitchFamily="34" charset="-120"/>
              </a:rPr>
              <a:t>Deep Research / Key Driver</a:t>
            </a:r>
            <a:endParaRPr lang="en-US" sz="850" dirty="0"/>
          </a:p>
          <a:p>
            <a:pPr algn="l" indent="0" marL="0">
              <a:buNone/>
            </a:pPr>
            <a:r>
              <a:rPr lang="en-US" sz="850" b="1" dirty="0">
                <a:solidFill>
                  <a:srgbClr val="555555"/>
                </a:solidFill>
                <a:latin typeface="Calibri" pitchFamily="34" charset="0"/>
                <a:ea typeface="Calibri" pitchFamily="34" charset="-122"/>
                <a:cs typeface="Calibri" pitchFamily="34" charset="-120"/>
              </a:rPr>
              <a:t>Analysis Agent</a:t>
            </a:r>
            <a:endParaRPr lang="en-US" sz="850" dirty="0"/>
          </a:p>
        </p:txBody>
      </p:sp>
      <p:sp>
        <p:nvSpPr>
          <p:cNvPr id="50" name="Text 48"/>
          <p:cNvSpPr/>
          <p:nvPr/>
        </p:nvSpPr>
        <p:spPr>
          <a:xfrm>
            <a:off x="2377440" y="4325112"/>
            <a:ext cx="5285232" cy="402336"/>
          </a:xfrm>
          <a:prstGeom prst="rect">
            <a:avLst/>
          </a:prstGeom>
          <a:noFill/>
          <a:ln/>
        </p:spPr>
        <p:txBody>
          <a:bodyPr wrap="square" lIns="0" tIns="0" rIns="0" bIns="0" rtlCol="0" anchor="ctr"/>
          <a:lstStyle/>
          <a:p>
            <a:pPr algn="l" indent="0" marL="0">
              <a:buNone/>
            </a:pPr>
            <a:r>
              <a:rPr lang="en-US" sz="900" dirty="0">
                <a:solidFill>
                  <a:srgbClr val="555555"/>
                </a:solidFill>
                <a:latin typeface="Calibri" pitchFamily="34" charset="0"/>
                <a:ea typeface="Calibri" pitchFamily="34" charset="-122"/>
                <a:cs typeface="Calibri" pitchFamily="34" charset="-120"/>
              </a:rPr>
              <a:t>Agent uses a reasoning model to generate a detailed research report — e.g. 'Why is this metric trending?' Goes beyond retrieval into multi-step reasoning.</a:t>
            </a:r>
            <a:endParaRPr lang="en-US" sz="900" dirty="0"/>
          </a:p>
        </p:txBody>
      </p:sp>
      <p:sp>
        <p:nvSpPr>
          <p:cNvPr id="51" name="Shape 49"/>
          <p:cNvSpPr/>
          <p:nvPr/>
        </p:nvSpPr>
        <p:spPr>
          <a:xfrm>
            <a:off x="7754112" y="4416552"/>
            <a:ext cx="914400" cy="219456"/>
          </a:xfrm>
          <a:prstGeom prst="rect">
            <a:avLst/>
          </a:prstGeom>
          <a:solidFill>
            <a:srgbClr val="F3F4F6"/>
          </a:solidFill>
          <a:ln w="12700">
            <a:solidFill>
              <a:srgbClr val="D1D5DB"/>
            </a:solidFill>
            <a:prstDash val="solid"/>
          </a:ln>
        </p:spPr>
      </p:sp>
      <p:sp>
        <p:nvSpPr>
          <p:cNvPr id="52" name="Text 50"/>
          <p:cNvSpPr/>
          <p:nvPr/>
        </p:nvSpPr>
        <p:spPr>
          <a:xfrm>
            <a:off x="7754112" y="4416552"/>
            <a:ext cx="914400" cy="219456"/>
          </a:xfrm>
          <a:prstGeom prst="rect">
            <a:avLst/>
          </a:prstGeom>
          <a:noFill/>
          <a:ln/>
        </p:spPr>
        <p:txBody>
          <a:bodyPr wrap="square" lIns="0" tIns="0" rIns="0" bIns="0" rtlCol="0" anchor="ctr"/>
          <a:lstStyle/>
          <a:p>
            <a:pPr algn="ctr" indent="0" marL="0">
              <a:buNone/>
            </a:pPr>
            <a:r>
              <a:rPr lang="en-US" sz="750" b="1" dirty="0">
                <a:solidFill>
                  <a:srgbClr val="6B7280"/>
                </a:solidFill>
                <a:latin typeface="Calibri" pitchFamily="34" charset="0"/>
                <a:ea typeface="Calibri" pitchFamily="34" charset="-122"/>
                <a:cs typeface="Calibri" pitchFamily="34" charset="-120"/>
              </a:rPr>
              <a:t>Not Tested</a:t>
            </a:r>
            <a:endParaRPr lang="en-US" sz="750" dirty="0"/>
          </a:p>
        </p:txBody>
      </p:sp>
      <p:sp>
        <p:nvSpPr>
          <p:cNvPr id="53" name="Shape 51"/>
          <p:cNvSpPr/>
          <p:nvPr/>
        </p:nvSpPr>
        <p:spPr>
          <a:xfrm>
            <a:off x="365760" y="4919472"/>
            <a:ext cx="8412480" cy="18288"/>
          </a:xfrm>
          <a:prstGeom prst="rect">
            <a:avLst/>
          </a:prstGeom>
          <a:solidFill>
            <a:srgbClr val="1A1A1A"/>
          </a:solidFill>
          <a:ln w="12700">
            <a:solidFill>
              <a:srgbClr val="1A1A1A"/>
            </a:solidFill>
            <a:prstDash val="solid"/>
          </a:ln>
        </p:spPr>
      </p:sp>
      <p:sp>
        <p:nvSpPr>
          <p:cNvPr id="54" name="Text 52"/>
          <p:cNvSpPr/>
          <p:nvPr/>
        </p:nvSpPr>
        <p:spPr>
          <a:xfrm>
            <a:off x="365760" y="4956048"/>
            <a:ext cx="8412480" cy="146304"/>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MSTR Strategy ONE  ·  March 2026</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2026-04-03T13:15:39Z</dcterms:created>
  <dcterms:modified xsi:type="dcterms:W3CDTF">2026-04-03T13:15:39Z</dcterms:modified>
</cp:coreProperties>
</file>